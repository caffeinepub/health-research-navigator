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6" r:id="rId14"/>
    <p:sldId id="268" r:id="rId15"/>
    <p:sldId id="269" r:id="rId16"/>
    <p:sldId id="270" r:id="rId17"/>
    <p:sldId id="287" r:id="rId18"/>
    <p:sldId id="271" r:id="rId19"/>
    <p:sldId id="288" r:id="rId20"/>
    <p:sldId id="289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90" r:id="rId32"/>
    <p:sldId id="285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272" r:id="rId48"/>
    <p:sldId id="273" r:id="rId49"/>
    <p:sldId id="27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0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438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E8563A">
              <a:alpha val="8000"/>
            </a:srgbClr>
          </a:solidFill>
          <a:ln w="12700">
            <a:solidFill>
              <a:srgbClr val="E8563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-274320"/>
            <a:ext cx="3657600" cy="3657600"/>
          </a:xfrm>
          <a:prstGeom prst="ellipse">
            <a:avLst/>
          </a:prstGeom>
          <a:solidFill>
            <a:srgbClr val="F5A623">
              <a:alpha val="6000"/>
            </a:srgbClr>
          </a:solidFill>
          <a:ln w="12700">
            <a:solidFill>
              <a:srgbClr val="F5A623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BEGINNER'S COMPLETE GUIDE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8229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Medical Research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explained simply — with real examples,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analogies, and zero scary jargon.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224528"/>
            <a:ext cx="1874520" cy="594360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224528"/>
            <a:ext cx="73152" cy="594360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42519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60320" y="4224528"/>
            <a:ext cx="1874520" cy="594360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4224528"/>
            <a:ext cx="73152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6624" y="42519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Read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4224528"/>
            <a:ext cx="1874520" cy="594360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4224528"/>
            <a:ext cx="73152" cy="594360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42519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Judge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66560" y="4224528"/>
            <a:ext cx="1874520" cy="594360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4224528"/>
            <a:ext cx="73152" cy="594360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42519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Community Medicine  ·  AIMS Faridabad  ·  For Beginners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Literature Review?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with a simple story...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1247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ANALOGY: Imagine you want to build the world's best LEGO castle. Before you start, you check what castles others have already built, what worked, and what didn't. THAT is a literature review!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279806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19072"/>
            <a:ext cx="2798064" cy="38404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556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25786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through all the research that has already been done on a topic, reading it carefully, and summarising the most important findings.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18688" y="1719072"/>
            <a:ext cx="279806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719072"/>
            <a:ext cx="2798064" cy="384048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7556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Why doctors do 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28416" y="2176272"/>
            <a:ext cx="25786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doctor starts a new study, they need to know what everyone else has already discovered — so they don't repeat the same work and waste time!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63056" y="1719072"/>
            <a:ext cx="279806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719072"/>
            <a:ext cx="2798064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7556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The golden rule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72784" y="2176272"/>
            <a:ext cx="25786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what others know BEFORE you start. A good literature review proves your question is NEW and your research is NEEDED.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377440"/>
          </a:xfrm>
          <a:prstGeom prst="rect">
            <a:avLst/>
          </a:prstGeom>
          <a:solidFill>
            <a:srgbClr val="2E3554"/>
          </a:solidFill>
          <a:ln w="12700">
            <a:solidFill>
              <a:srgbClr val="2E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04672"/>
            <a:ext cx="73152" cy="2377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960120"/>
            <a:ext cx="420624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60120"/>
            <a:ext cx="7863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all medical research money is WASTED because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did not check what was already known.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Chalmers &amp; Glasziou, The Lancet (one of the world's top medical journals)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291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 this way 👇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3657600"/>
            <a:ext cx="2798064" cy="1261872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3657600"/>
            <a:ext cx="2798064" cy="54864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37490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Wasted YEARS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4048" y="4041648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spent 3 years proving something that had ALREADY been proven 10 years earlier!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18688" y="3657600"/>
            <a:ext cx="2798064" cy="1261872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18688" y="3657600"/>
            <a:ext cx="2798064" cy="54864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28416" y="37490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Wasted MONEY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328416" y="4041648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Crores of rupees spent on asking a question someone already answered.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63056" y="3657600"/>
            <a:ext cx="2798064" cy="1261872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63056" y="3657600"/>
            <a:ext cx="27980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72784" y="37490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Real patient harm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72784" y="4041648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doctors use outdated info, patients get the wrong treatment.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Literature Review Fit?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Step 2 in the whole research journey — and you CANNOT skip it!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42416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8813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ANALOGY: Think of doing research like a road trip. The Literature Review is your MAP — you check it BEFORE driving, not after getting lost!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664208"/>
            <a:ext cx="133502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773936"/>
            <a:ext cx="457200" cy="457200"/>
          </a:xfrm>
          <a:prstGeom prst="ellipse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34086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1752" y="29626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Topic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" y="3493008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to study?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63624" y="2761488"/>
            <a:ext cx="109728" cy="54864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3352" y="1664208"/>
            <a:ext cx="1335024" cy="3246120"/>
          </a:xfrm>
          <a:prstGeom prst="rect">
            <a:avLst/>
          </a:prstGeom>
          <a:solidFill>
            <a:srgbClr val="000000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73352" y="1664208"/>
            <a:ext cx="1335024" cy="324612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12264" y="1773936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12264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39112" y="234086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746504" y="29626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Literature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28216" y="3493008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THIS IS WHERE WE ARE! 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008376" y="2761488"/>
            <a:ext cx="109728" cy="54864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18104" y="1664208"/>
            <a:ext cx="133502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57016" y="1773936"/>
            <a:ext cx="457200" cy="457200"/>
          </a:xfrm>
          <a:prstGeom prst="ellipse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57016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83864" y="234086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191256" y="29626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Hypothesis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72968" y="3493008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educated guess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53128" y="2761488"/>
            <a:ext cx="109728" cy="54864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62856" y="1664208"/>
            <a:ext cx="133502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01768" y="1773936"/>
            <a:ext cx="457200" cy="457200"/>
          </a:xfrm>
          <a:prstGeom prst="ellipse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28616" y="234086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636008" y="29626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17720" y="3493008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study or experiment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897880" y="2761488"/>
            <a:ext cx="109728" cy="54864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07608" y="1664208"/>
            <a:ext cx="133502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1773936"/>
            <a:ext cx="457200" cy="457200"/>
          </a:xfrm>
          <a:prstGeom prst="ellipse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73368" y="234086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080760" y="29626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Results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62472" y="3493008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maths and statistics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342632" y="2761488"/>
            <a:ext cx="109728" cy="54864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52360" y="1664208"/>
            <a:ext cx="133502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891272" y="1773936"/>
            <a:ext cx="457200" cy="457200"/>
          </a:xfrm>
          <a:prstGeom prst="ellipse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91272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818120" y="2340864"/>
            <a:ext cx="60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7525512" y="296265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Publish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507224" y="3493008"/>
            <a:ext cx="12252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findings with the world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Good Literature Review Does For You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your SUPERPOWER as a researcher 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2798064" cy="1719072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2798064" cy="54864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7043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Shows you the map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536192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 what the world already knows — so you start where others left off, not from zero.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2968" y="1078992"/>
            <a:ext cx="2798064" cy="1719072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78992"/>
            <a:ext cx="2798064" cy="54864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17043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  Spots the gaps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82696" y="1536192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the questions that have NOT been answered yet. That's your research opportunity!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17336" y="1078992"/>
            <a:ext cx="2798064" cy="1719072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078992"/>
            <a:ext cx="27980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17043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Points your direction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27064" y="1536192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design your study better — because you learn from others' mistakes and successes.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" y="2944368"/>
            <a:ext cx="2798064" cy="1719072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944368"/>
            <a:ext cx="2798064" cy="54864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03580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Gives you credibility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" y="3401568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cite other research, people take YOUR research more seriously.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72968" y="2944368"/>
            <a:ext cx="2798064" cy="1719072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2944368"/>
            <a:ext cx="2798064" cy="54864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303580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Saves time and money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82696" y="3401568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accidentally study something already solved. Resources go to real unknowns.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17336" y="2944368"/>
            <a:ext cx="2798064" cy="1719072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2944368"/>
            <a:ext cx="2798064" cy="54864"/>
          </a:xfrm>
          <a:prstGeom prst="rect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303580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Helps you get published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27064" y="3401568"/>
            <a:ext cx="25786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 ask: 'What does this add to what we know?' Your lit review answers that question</a:t>
            </a:r>
            <a:r>
              <a:rPr lang="en-US" sz="10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1A9E8A">
              <a:alpha val="10000"/>
            </a:srgbClr>
          </a:solidFill>
          <a:ln w="12700">
            <a:solidFill>
              <a:srgbClr val="1A9E8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36576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WHERE TO LOOK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Research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🏛️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amazing places where medical knowledge lives...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Sources — Primary &amp; Secondary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ANALOGY: PRIMARY sources are like picking fruit directly from a tree. SECONDARY sources are like reading someone else's review of a fruit shop.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425196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72768"/>
            <a:ext cx="4251960" cy="402336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6093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PRIMARY SOURCES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" y="204825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written by the ACTUAL scientists who did the experiment. These are the most reliable.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" y="27432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Original research articles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" y="31089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Clinical trial reports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" y="3474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Case studies and case series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" y="38404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Theses and dissertations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" y="42062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Conference papers (unpublished data)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572768"/>
            <a:ext cx="4251960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572768"/>
            <a:ext cx="4251960" cy="402336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16093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SECONDARY SOURCES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74336" y="204825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 READ the primary research and wrote a SUMMARY or REVIEW. Very useful but one step removed.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74336" y="27432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 articles and meta-analyses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74336" y="31089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Systematic reviews (Cochrane)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74336" y="3474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Textbooks and reference books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74336" y="38404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Government health reports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74336" y="42062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Guidelines (WHO, ICMR, MOHFW)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Big Medical Libraries Online 🏛️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like Google — but only for medical research papers, and much more reliable!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42416"/>
            <a:ext cx="2798064" cy="1847088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42416"/>
            <a:ext cx="2798064" cy="54864"/>
          </a:xfrm>
          <a:prstGeom prst="rect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04288" y="1115568"/>
            <a:ext cx="640080" cy="219456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1115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✓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10896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PubMed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" y="1463040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medical library in the world. Run by the US government. Has 36 million articles. Always start here.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" y="235915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Indexes key Indian journals like IJCM, IJP, JAPI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45536" y="1042416"/>
            <a:ext cx="2798064" cy="1847088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1042416"/>
            <a:ext cx="2798064" cy="54864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48656" y="1115568"/>
            <a:ext cx="640080" cy="219456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1115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✓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55264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Cochrane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55264" y="1463040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has SUPER HIGH QUALITY reviews. If Cochrane says something, doctors trust it completely.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55264" y="235915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Has India-focused systematic reviews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9904" y="1042416"/>
            <a:ext cx="2798064" cy="1847088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042416"/>
            <a:ext cx="2798064" cy="54864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115568"/>
            <a:ext cx="640080" cy="219456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11155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99632" y="113385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Embase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99632" y="1463040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Enormous database, especially good for medicines and drugs. Covers more European research  than PubMed.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9632" y="235915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Best for drug side-effect studies in India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1168" y="3035808"/>
            <a:ext cx="2798064" cy="1847088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1168" y="3035808"/>
            <a:ext cx="27980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04288" y="3108960"/>
            <a:ext cx="640080" cy="219456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4288" y="31089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✓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10896" y="31272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</a:t>
            </a:r>
            <a:r>
              <a:rPr lang="en-US" sz="14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IndMED</a:t>
            </a: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/NML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0896" y="3456432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medical library! Contains research from Indian hospitals and universities that bigger databases miss.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0896" y="435254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🇮🇳 India's own medical database — don't skip!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145536" y="3035808"/>
            <a:ext cx="2798064" cy="1847088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3035808"/>
            <a:ext cx="2798064" cy="54864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48656" y="3108960"/>
            <a:ext cx="640080" cy="219456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48656" y="31089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255264" y="31272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Ovid/Scopus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255264" y="3456432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find WHO CITED a paper. Great for tracking how ideas spread across research communities.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255264" y="435254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Good for seeing how many researchers cited an article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089904" y="3035808"/>
            <a:ext cx="2798064" cy="1847088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9904" y="3035808"/>
            <a:ext cx="2798064" cy="54864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93024" y="3108960"/>
            <a:ext cx="640080" cy="219456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93024" y="31089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✓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99632" y="312724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Google Scholar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199632" y="3456432"/>
            <a:ext cx="25786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regular Google but ONLY for academic papers. Great as a starting point but can find low-quality sources too — be careful!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199632" y="435254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Finds Indian theses, reports, and government data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Literature Reviews — Which Is Which?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503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🍰  ANALOGY: These are like different ways of making a cake — same ingredients (research papers), very different final products!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" y="1389888"/>
            <a:ext cx="2798064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389888"/>
            <a:ext cx="2798064" cy="365760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4447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Systematic Review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" y="182880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quality. Uses a strict checklist. Tells you DEFINITIVELY what the evidence says.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" y="2505456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 'Does handwashing reduce diarrhoea in children under 5?' — one definitive answer.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45536" y="1389888"/>
            <a:ext cx="2798064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5536" y="1389888"/>
            <a:ext cx="2798064" cy="365760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14447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Narrative Review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55264" y="182880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what you read. Less strict. More flexible. Good for broad topics.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55264" y="2505456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 'Overview of hypertension management in India' — tells the story.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9904" y="1389888"/>
            <a:ext cx="2798064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1389888"/>
            <a:ext cx="2798064" cy="365760"/>
          </a:xfrm>
          <a:prstGeom prst="rect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4447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Scoping 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182880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MAP a topic when you don't even know where to start. Great for new areas.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9632" y="2505456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 'What research exists on ASHA worker mental health?' — a landscape survey.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" y="3200400"/>
            <a:ext cx="2798064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3200400"/>
            <a:ext cx="2798064" cy="365760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32552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Meta-Analysis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0896" y="363931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numbers from MANY studies using special maths to get ONE big answer.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0896" y="431596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 Combines 20 studies on a vaccine to get one combined effectiveness percentage.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45536" y="3200400"/>
            <a:ext cx="2798064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45536" y="3200400"/>
            <a:ext cx="2798064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55264" y="32552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☂️  Umbrella Review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55264" y="363931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of systematic reviews! The highest level. Compares multiple top-quality reviews.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55264" y="431596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 'What do all the Cochrane reviews say about TB prevention?' — the ultimate summary.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9904" y="3200400"/>
            <a:ext cx="2798064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3200400"/>
            <a:ext cx="2798064" cy="365760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2552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Rapid Review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99632" y="363931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quick, streamlined review. Done fast when a decision needs to be made urgently.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99632" y="431596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 During COVID-19, rapid reviews helped doctors decide treatments within weeks.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Literature — The Hidden Treasure 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503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🏴‍☠️  ANALOGY: Most people only look in bookshops for books. Grey literature is like finding rare books in someone's attic — not in any shop, but incredibly valuable!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literature = anything NOT published in a regular journal, but still containing valuable research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883664"/>
            <a:ext cx="2029968" cy="303580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883664"/>
            <a:ext cx="2029968" cy="54864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9385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43230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Govt Reports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8712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NFHS-5 health survey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MOHFW annual reports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1246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NHM programme guidelines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13308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ICMR technical reports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04872" y="1883664"/>
            <a:ext cx="2029968" cy="303580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04872" y="1883664"/>
            <a:ext cx="2029968" cy="54864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19385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496312" y="243230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Bodies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96312" y="28712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WHO Global Health Observatory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96312" y="329184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UNICEF country reports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96312" y="371246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World Bank health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96312" y="413308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IHME Global Burden of Disease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81144" y="1883664"/>
            <a:ext cx="2029968" cy="303580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81144" y="1883664"/>
            <a:ext cx="2029968" cy="54864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19385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72584" y="243230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Theses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72584" y="28712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Shodhganga (India's theses portal)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72584" y="329184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PhD and MD theses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72584" y="371246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University research reports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72584" y="413308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Unpublished study data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57416" y="1883664"/>
            <a:ext cx="2029968" cy="303580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57416" y="1883664"/>
            <a:ext cx="2029968" cy="54864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7416" y="193852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48856" y="243230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Registries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48856" y="28712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ClinicalTrials.gov (global trials)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48856" y="329184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CTRI — India's trial registry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371246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ISRCTN (international trials)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48856" y="413308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WHO ICTRP (all registries combined)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IMPORTANT: If you skip grey literature, your review will have GAPS — and reviewers will notice!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36576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HOW TO ASK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Right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First 🎯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turns a fuzzy hunch into a laser-sharp search...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— Your Magic Question Formula 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503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ANALOGY: Before ordering pizza, you decide: WHO is eating (P), WHAT topping (I), compared to WHAT else (C), to make everyone HOW happy (O). PICO works the same way for research!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0116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2011680" cy="73152"/>
          </a:xfrm>
          <a:prstGeom prst="rect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2646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being studied?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52928"/>
            <a:ext cx="1828800" cy="18288"/>
          </a:xfrm>
          <a:prstGeom prst="rect">
            <a:avLst/>
          </a:prstGeom>
          <a:solidFill>
            <a:srgbClr val="3BACD8">
              <a:alpha val="30000"/>
            </a:srgbClr>
          </a:solidFill>
          <a:ln w="12700">
            <a:solidFill>
              <a:srgbClr val="3BACD8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of people you are studying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3101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over 40 with Type 2 Diabetes in rural Haryana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32304" y="1389888"/>
            <a:ext cx="20116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32304" y="1389888"/>
            <a:ext cx="2011680" cy="73152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142646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6800" dirty="0"/>
          </a:p>
        </p:txBody>
      </p:sp>
      <p:sp>
        <p:nvSpPr>
          <p:cNvPr id="17" name="Text 15"/>
          <p:cNvSpPr/>
          <p:nvPr/>
        </p:nvSpPr>
        <p:spPr>
          <a:xfrm>
            <a:off x="2523744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23744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done?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3744" y="2852928"/>
            <a:ext cx="1828800" cy="18288"/>
          </a:xfrm>
          <a:prstGeom prst="rect">
            <a:avLst/>
          </a:prstGeom>
          <a:solidFill>
            <a:srgbClr val="E8563A">
              <a:alpha val="30000"/>
            </a:srgbClr>
          </a:solidFill>
          <a:ln w="12700">
            <a:solidFill>
              <a:srgbClr val="E8563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treatment, programme, or thing you're testing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23744" y="33101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 foot care programme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0288" y="1389888"/>
            <a:ext cx="20116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1389888"/>
            <a:ext cx="2011680" cy="73152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142646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800" dirty="0"/>
          </a:p>
        </p:txBody>
      </p:sp>
      <p:sp>
        <p:nvSpPr>
          <p:cNvPr id="25" name="Text 23"/>
          <p:cNvSpPr/>
          <p:nvPr/>
        </p:nvSpPr>
        <p:spPr>
          <a:xfrm>
            <a:off x="4681728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81728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WHAT?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81728" y="2852928"/>
            <a:ext cx="1828800" cy="18288"/>
          </a:xfrm>
          <a:prstGeom prst="rect">
            <a:avLst/>
          </a:prstGeom>
          <a:solidFill>
            <a:srgbClr val="7059C4">
              <a:alpha val="30000"/>
            </a:srgbClr>
          </a:solidFill>
          <a:ln w="12700">
            <a:solidFill>
              <a:srgbClr val="7059C4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 — usually the current standard treatment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81728" y="33101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hospital outpatient care, nothing special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48272" y="1389888"/>
            <a:ext cx="201168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48272" y="1389888"/>
            <a:ext cx="2011680" cy="73152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142646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800" dirty="0"/>
          </a:p>
        </p:txBody>
      </p:sp>
      <p:sp>
        <p:nvSpPr>
          <p:cNvPr id="33" name="Text 31"/>
          <p:cNvSpPr/>
          <p:nvPr/>
        </p:nvSpPr>
        <p:spPr>
          <a:xfrm>
            <a:off x="6839712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39712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measured?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39712" y="2852928"/>
            <a:ext cx="1828800" cy="18288"/>
          </a:xfrm>
          <a:prstGeom prst="rect">
            <a:avLst/>
          </a:prstGeom>
          <a:solidFill>
            <a:srgbClr val="2EAB68">
              <a:alpha val="30000"/>
            </a:srgbClr>
          </a:solidFill>
          <a:ln w="12700">
            <a:solidFill>
              <a:srgbClr val="2EAB68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9712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know if it worked or not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39712" y="33101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e.g.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foot ulcers after 12 months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485"/>
          </a:solidFill>
          <a:ln w="12700">
            <a:solidFill>
              <a:srgbClr val="0E94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09344" y="1645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PICO 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86319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78992"/>
            <a:ext cx="1261872" cy="822960"/>
          </a:xfrm>
          <a:prstGeom prst="rect">
            <a:avLst/>
          </a:prstGeom>
          <a:solidFill>
            <a:srgbClr val="0E9485"/>
          </a:solidFill>
          <a:ln w="12700">
            <a:solidFill>
              <a:srgbClr val="0E94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89304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9344" y="1161288"/>
            <a:ext cx="7150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· Intervention · Comparison · Outcome · Study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9344" y="1499616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Systematic reviews where study design is a key inclusion criterion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" y="2048256"/>
            <a:ext cx="86319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048256"/>
            <a:ext cx="1261872" cy="822960"/>
          </a:xfrm>
          <a:prstGeom prst="rect">
            <a:avLst/>
          </a:prstGeom>
          <a:solidFill>
            <a:srgbClr val="1E9E60"/>
          </a:solidFill>
          <a:ln w="12700">
            <a:solidFill>
              <a:srgbClr val="1E9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258568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9344" y="2130552"/>
            <a:ext cx="7150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· Exposure · Comparison · Outcome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9344" y="2468880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Epidemiology &amp; environmental health — no active intervention involved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3017520"/>
            <a:ext cx="86319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017520"/>
            <a:ext cx="1261872" cy="8229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22783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9344" y="3099816"/>
            <a:ext cx="7150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· Phenomenon · Design · Evaluation · Research type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438144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Qualitative and mixed-methods research in community/nursing settings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3986784"/>
            <a:ext cx="86319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986784"/>
            <a:ext cx="1261872" cy="822960"/>
          </a:xfrm>
          <a:prstGeom prst="rect">
            <a:avLst/>
          </a:prstGeom>
          <a:solidFill>
            <a:srgbClr val="E07840"/>
          </a:solidFill>
          <a:ln w="12700">
            <a:solidFill>
              <a:srgbClr val="E07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4197096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09344" y="4069080"/>
            <a:ext cx="7150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· Client group · Location · Impact · Professionals · Service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9344" y="4407408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Health services management and health system organisation questions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" y="4919472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rule — Intervention present → PICO/PICOS.  Exposure only → PECO.  Qualitative focus → SPIDER.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EXERCISE: Build a PICO Question Step by Step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4320" y="768096"/>
            <a:ext cx="8595360" cy="475488"/>
          </a:xfrm>
          <a:prstGeom prst="rect">
            <a:avLst/>
          </a:prstGeom>
          <a:solidFill>
            <a:srgbClr val="2E3554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80467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SCENARIO: You are a doctor in Haryana. You wonder — can zinc tablets help children recover from diarrhoea faster than just ORS alone?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768096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475488" cy="768096"/>
          </a:xfrm>
          <a:prstGeom prst="rect">
            <a:avLst/>
          </a:prstGeom>
          <a:solidFill>
            <a:srgbClr val="3BACD8">
              <a:alpha val="90000"/>
            </a:srgbClr>
          </a:solidFill>
          <a:ln w="12700">
            <a:solidFill>
              <a:srgbClr val="3BACD8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7276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Who are the children?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7007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Answer: Children under 5 years old, in India, with diarrhoea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7007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Age? Location? What condition do they have?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8595360" cy="768096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31136"/>
            <a:ext cx="475488" cy="768096"/>
          </a:xfrm>
          <a:prstGeom prst="rect">
            <a:avLst/>
          </a:prstGeom>
          <a:solidFill>
            <a:srgbClr val="E8563A">
              <a:alpha val="90000"/>
            </a:srgbClr>
          </a:solidFill>
          <a:ln w="12700">
            <a:solidFill>
              <a:srgbClr val="E8563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3230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2286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What treatment are you testing?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25603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Answer: Zinc tablets given along with ORS (oral rehydration salts)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5603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What's the NEW thing you want to test?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8595360" cy="768096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90672"/>
            <a:ext cx="475488" cy="768096"/>
          </a:xfrm>
          <a:prstGeom prst="rect">
            <a:avLst/>
          </a:prstGeom>
          <a:solidFill>
            <a:srgbClr val="7059C4">
              <a:alpha val="90000"/>
            </a:srgbClr>
          </a:solidFill>
          <a:ln w="12700">
            <a:solidFill>
              <a:srgbClr val="7059C4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9184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" y="31455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What's the comparison?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34198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Answer: ORS </a:t>
            </a: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</a:t>
            </a: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zinc tablets, just the standard treatment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34198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do you compare the new treatment TO?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950208"/>
            <a:ext cx="8595360" cy="768096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950208"/>
            <a:ext cx="475488" cy="768096"/>
          </a:xfrm>
          <a:prstGeom prst="rect">
            <a:avLst/>
          </a:prstGeom>
          <a:solidFill>
            <a:srgbClr val="2EAB68">
              <a:alpha val="90000"/>
            </a:srgbClr>
          </a:solidFill>
          <a:ln w="12700">
            <a:solidFill>
              <a:srgbClr val="2EAB68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5137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1248" y="4005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How will you know it worked?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" y="42793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Answer: Number of days until the child has no more diarrhoea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42793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can be measured? Shorter illness = zinc worked!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Your PICO into Search Words 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321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ANALOGY: When you search on Google, you try different words for the same thing — 'car', 'automobile', 'vehicle'. Medical databases need the same trick!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secret: DIFFERENT papers use DIFFERENT words for the same thing. You need ALL the words!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0078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00784"/>
            <a:ext cx="438912" cy="694944"/>
          </a:xfrm>
          <a:prstGeom prst="rect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83664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" y="1700784"/>
            <a:ext cx="2606040" cy="694944"/>
          </a:xfrm>
          <a:prstGeom prst="rect">
            <a:avLst/>
          </a:prstGeom>
          <a:solidFill>
            <a:srgbClr val="FDF6E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4708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diarrhoea in India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773936"/>
            <a:ext cx="5349240" cy="566928"/>
          </a:xfrm>
          <a:prstGeom prst="rect">
            <a:avLst/>
          </a:prstGeom>
          <a:solidFill>
            <a:srgbClr val="3BACD8">
              <a:alpha val="10000"/>
            </a:srgbClr>
          </a:solidFill>
          <a:ln w="12700">
            <a:solidFill>
              <a:srgbClr val="3BACD8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7739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Search words to use: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47872" y="19751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"Children"   "Pediatric"   "Under five"   "Infant"   "India"   "South Asia"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68880"/>
            <a:ext cx="438912" cy="694944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5176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8096" y="2468880"/>
            <a:ext cx="2606040" cy="694944"/>
          </a:xfrm>
          <a:prstGeom prst="rect">
            <a:avLst/>
          </a:prstGeom>
          <a:solidFill>
            <a:srgbClr val="FDF6E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61518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 supplementation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2542032"/>
            <a:ext cx="5349240" cy="566928"/>
          </a:xfrm>
          <a:prstGeom prst="rect">
            <a:avLst/>
          </a:prstGeom>
          <a:solidFill>
            <a:srgbClr val="E8563A">
              <a:alpha val="10000"/>
            </a:srgbClr>
          </a:solidFill>
          <a:ln w="12700">
            <a:solidFill>
              <a:srgbClr val="E8563A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54203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Search words to use: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47872" y="27432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"Zinc"   "Zinc sulfate"   "Zinc gluconate"   "Zinc therapy"   "Zinc tablets"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23697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236976"/>
            <a:ext cx="438912" cy="694944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19856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8096" y="3236976"/>
            <a:ext cx="2606040" cy="694944"/>
          </a:xfrm>
          <a:prstGeom prst="rect">
            <a:avLst/>
          </a:prstGeom>
          <a:solidFill>
            <a:srgbClr val="FDF6E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338328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/ standard care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29000" y="3310128"/>
            <a:ext cx="5349240" cy="566928"/>
          </a:xfrm>
          <a:prstGeom prst="rect">
            <a:avLst/>
          </a:prstGeom>
          <a:solidFill>
            <a:srgbClr val="7059C4">
              <a:alpha val="10000"/>
            </a:srgbClr>
          </a:solidFill>
          <a:ln w="12700">
            <a:solidFill>
              <a:srgbClr val="7059C4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3101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Search words to use: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47872" y="35112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"ORS"   "Oral rehydration"   "Standard treatment"   "Control group"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00507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005072"/>
            <a:ext cx="438912" cy="694944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18795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68096" y="4005072"/>
            <a:ext cx="2606040" cy="694944"/>
          </a:xfrm>
          <a:prstGeom prst="rect">
            <a:avLst/>
          </a:prstGeom>
          <a:solidFill>
            <a:srgbClr val="FDF6E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415137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of diarrhoea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29000" y="4078224"/>
            <a:ext cx="5349240" cy="566928"/>
          </a:xfrm>
          <a:prstGeom prst="rect">
            <a:avLst/>
          </a:prstGeom>
          <a:solidFill>
            <a:srgbClr val="2EAB68">
              <a:alpha val="10000"/>
            </a:srgbClr>
          </a:solidFill>
          <a:ln w="12700">
            <a:solidFill>
              <a:srgbClr val="2EAB68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40782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Search words to use: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47872" y="42793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"Diarrhoea"   "Diarrhea"   "Gastroenteritis"   "Stool frequency"   "Recovery time"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7059C4">
              <a:alpha val="10000"/>
            </a:srgbClr>
          </a:solidFill>
          <a:ln w="12700">
            <a:solidFill>
              <a:srgbClr val="7059C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36576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HOW TO SEARCH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Like a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🔎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 — three magic words that control everything...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12B24"/>
          </a:solidFill>
          <a:ln w="12700">
            <a:solidFill>
              <a:srgbClr val="112B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485"/>
          </a:solidFill>
          <a:ln w="12700">
            <a:solidFill>
              <a:srgbClr val="0E94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228600"/>
            <a:ext cx="1097280" cy="274320"/>
          </a:xfrm>
          <a:prstGeom prst="rect">
            <a:avLst/>
          </a:prstGeom>
          <a:solidFill>
            <a:srgbClr val="0E9485"/>
          </a:solidFill>
          <a:ln w="12700">
            <a:solidFill>
              <a:srgbClr val="0E94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9344" y="1645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Search Strategy — Six Steps Before You Type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4251960" cy="1170432"/>
          </a:xfrm>
          <a:prstGeom prst="rect">
            <a:avLst/>
          </a:prstGeom>
          <a:solidFill>
            <a:srgbClr val="173528"/>
          </a:solidFill>
          <a:ln w="12700">
            <a:solidFill>
              <a:srgbClr val="1E403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426464"/>
            <a:ext cx="475488" cy="47548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26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2688" y="11704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Core Concepts from PICO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1499616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2–4 concepts. Each concept becomes a separate block. Do NOT combine different concepts yet 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1078992"/>
            <a:ext cx="4251960" cy="1170432"/>
          </a:xfrm>
          <a:prstGeom prst="rect">
            <a:avLst/>
          </a:prstGeom>
          <a:solidFill>
            <a:srgbClr val="173528"/>
          </a:solidFill>
          <a:ln w="12700">
            <a:solidFill>
              <a:srgbClr val="1E403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28032" y="1426464"/>
            <a:ext cx="475488" cy="475488"/>
          </a:xfrm>
          <a:prstGeom prst="ellipse">
            <a:avLst/>
          </a:prstGeom>
          <a:solidFill>
            <a:srgbClr val="3DA8D8"/>
          </a:solidFill>
          <a:ln w="12700">
            <a:solidFill>
              <a:srgbClr val="3DA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426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13248" y="11704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Synonyms for Each Concept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13248" y="1499616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'Key terms vary across time.' For each concept, list all synonyms, acronyms, and spelling variants 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2377440"/>
            <a:ext cx="4251960" cy="1170432"/>
          </a:xfrm>
          <a:prstGeom prst="rect">
            <a:avLst/>
          </a:prstGeom>
          <a:solidFill>
            <a:srgbClr val="173528"/>
          </a:solidFill>
          <a:ln w="12700">
            <a:solidFill>
              <a:srgbClr val="1E403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724912"/>
            <a:ext cx="475488" cy="475488"/>
          </a:xfrm>
          <a:prstGeom prst="ellipse">
            <a:avLst/>
          </a:prstGeom>
          <a:solidFill>
            <a:srgbClr val="0E9485"/>
          </a:solidFill>
          <a:ln w="12700">
            <a:solidFill>
              <a:srgbClr val="0E94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" y="24688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MeSH Equivalent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2798064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concept to its controlled vocabulary term at mesh.nlm.nih.gov before writing the search. 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36592" y="2377440"/>
            <a:ext cx="4251960" cy="1170432"/>
          </a:xfrm>
          <a:prstGeom prst="rect">
            <a:avLst/>
          </a:prstGeom>
          <a:solidFill>
            <a:srgbClr val="173528"/>
          </a:solidFill>
          <a:ln w="12700">
            <a:solidFill>
              <a:srgbClr val="1E403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2724912"/>
            <a:ext cx="475488" cy="47548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13248" y="24688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Boolean Operators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13248" y="2798064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links synonyms within one concept. AND connects different concepts. 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3675888"/>
            <a:ext cx="4251960" cy="1170432"/>
          </a:xfrm>
          <a:prstGeom prst="rect">
            <a:avLst/>
          </a:prstGeom>
          <a:solidFill>
            <a:srgbClr val="173528"/>
          </a:solidFill>
          <a:ln w="12700">
            <a:solidFill>
              <a:srgbClr val="1E403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4023360"/>
            <a:ext cx="475488" cy="475488"/>
          </a:xfrm>
          <a:prstGeom prst="ellipse">
            <a:avLst/>
          </a:prstGeom>
          <a:solidFill>
            <a:srgbClr val="1E9E60"/>
          </a:solidFill>
          <a:ln w="12700">
            <a:solidFill>
              <a:srgbClr val="1E9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2688" y="37673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Limits and Filters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2688" y="4096512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by: year of publication, document type, discipline, location, or database AFTER building core search 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36592" y="3675888"/>
            <a:ext cx="4251960" cy="1170432"/>
          </a:xfrm>
          <a:prstGeom prst="rect">
            <a:avLst/>
          </a:prstGeom>
          <a:solidFill>
            <a:srgbClr val="173528"/>
          </a:solidFill>
          <a:ln w="12700">
            <a:solidFill>
              <a:srgbClr val="1E403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28032" y="4023360"/>
            <a:ext cx="475488" cy="475488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13248" y="37673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Save the Strategy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13248" y="4096512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date, database, exact string, hit count. 'Walk students through how to save their search and receive alerts.' 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Magic Search Words — AND · OR · NOT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321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ANALOGY: These three words are like volume knobs on a music system. AND makes the search quieter (fewer results), OR makes it louder (more results), NOT mutes certain sounds.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7889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89888"/>
            <a:ext cx="2788920" cy="54864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2646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AND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676656" y="2249424"/>
            <a:ext cx="1947672" cy="256032"/>
          </a:xfrm>
          <a:prstGeom prst="rect">
            <a:avLst/>
          </a:prstGeom>
          <a:solidFill>
            <a:srgbClr val="2EAB68">
              <a:alpha val="18000"/>
            </a:srgbClr>
          </a:solidFill>
          <a:ln w="12700">
            <a:solidFill>
              <a:srgbClr val="2EAB68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249424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results SMALLER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9689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words must appear in the same article.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072384"/>
            <a:ext cx="2578608" cy="493776"/>
          </a:xfrm>
          <a:prstGeom prst="rect">
            <a:avLst/>
          </a:prstGeom>
          <a:solidFill>
            <a:srgbClr val="FDF6E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3090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AB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"Zinc" AND "Diarrhoea" → only articles that talk about BOTH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65760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AND to combine DIFFERENT ideas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389888"/>
            <a:ext cx="27889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389888"/>
            <a:ext cx="2788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42646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OR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3621024" y="2249424"/>
            <a:ext cx="1947672" cy="256032"/>
          </a:xfrm>
          <a:prstGeom prst="rect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2249424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results BIGGER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259689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word can appear. Gets all the synonyms.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10128" y="3072384"/>
            <a:ext cx="2578608" cy="493776"/>
          </a:xfrm>
          <a:prstGeom prst="rect">
            <a:avLst/>
          </a:prstGeom>
          <a:solidFill>
            <a:srgbClr val="FDF6E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3090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"Diarrhoea" OR "Diarrhea" → gets both spellings!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65760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 for SAME idea, different words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44768" y="1389888"/>
            <a:ext cx="27889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1389888"/>
            <a:ext cx="2788920" cy="54864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142646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NOT</a:t>
            </a:r>
            <a:endParaRPr lang="en-US" sz="5200" dirty="0"/>
          </a:p>
        </p:txBody>
      </p:sp>
      <p:sp>
        <p:nvSpPr>
          <p:cNvPr id="27" name="Shape 25"/>
          <p:cNvSpPr/>
          <p:nvPr/>
        </p:nvSpPr>
        <p:spPr>
          <a:xfrm>
            <a:off x="6565392" y="2249424"/>
            <a:ext cx="1947672" cy="256032"/>
          </a:xfrm>
          <a:prstGeom prst="rect">
            <a:avLst/>
          </a:prstGeom>
          <a:solidFill>
            <a:srgbClr val="E8563A">
              <a:alpha val="18000"/>
            </a:srgbClr>
          </a:solidFill>
          <a:ln w="12700">
            <a:solidFill>
              <a:srgbClr val="E8563A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2249424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unwanted results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259689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articles that contain the second word.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54496" y="3072384"/>
            <a:ext cx="2578608" cy="493776"/>
          </a:xfrm>
          <a:prstGeom prst="rect">
            <a:avLst/>
          </a:prstGeom>
          <a:solidFill>
            <a:srgbClr val="FDF6EE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090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5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"Malaria" NOT "Plasmodium" → removes some malaria types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54496" y="365760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NOT to REMOVE things you don't want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485"/>
          </a:solidFill>
          <a:ln w="12700">
            <a:solidFill>
              <a:srgbClr val="0E94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228600"/>
            <a:ext cx="1097280" cy="274320"/>
          </a:xfrm>
          <a:prstGeom prst="rect">
            <a:avLst/>
          </a:prstGeom>
          <a:solidFill>
            <a:srgbClr val="0E9485"/>
          </a:solidFill>
          <a:ln w="12700">
            <a:solidFill>
              <a:srgbClr val="0E94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09344" y="1645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Terms — The Master Key Every Expert Uses First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41605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078992"/>
            <a:ext cx="64008" cy="3858768"/>
          </a:xfrm>
          <a:prstGeom prst="rect">
            <a:avLst/>
          </a:prstGeom>
          <a:solidFill>
            <a:srgbClr val="0E9485"/>
          </a:solidFill>
          <a:ln w="12700">
            <a:solidFill>
              <a:srgbClr val="0E94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70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MeSH?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" y="1536192"/>
            <a:ext cx="3840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A3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Subject Headings (MeSH) is the controlled vocabulary PubMed uses to index every article. 'Because of such a huge collection, it is necessary to acquire skills for searching the relevant articles with minimal effort.' [B1 p.30]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A3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maps all synonyms to one standardised term — capturing every relevant paper regardless of what words the authors used.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must use it: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" y="33467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Captures papers using any synonym for the same concept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" y="37307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"Tuberculosis"[MeSH] includes TB, Koch's disease, phthisis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" y="41148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Explodes automatically to include all narrower sub-terms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" y="44988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Required in Methods section of published systematic reviews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078992"/>
            <a:ext cx="4297680" cy="3858768"/>
          </a:xfrm>
          <a:prstGeom prst="rect">
            <a:avLst/>
          </a:prstGeom>
          <a:solidFill>
            <a:srgbClr val="0D1F1A"/>
          </a:solidFill>
          <a:ln w="12700">
            <a:solidFill>
              <a:srgbClr val="1E403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11704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in Action — Book Examples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36592" y="1591056"/>
            <a:ext cx="4041648" cy="978408"/>
          </a:xfrm>
          <a:prstGeom prst="rect">
            <a:avLst/>
          </a:prstGeom>
          <a:solidFill>
            <a:srgbClr val="173528"/>
          </a:solidFill>
          <a:ln w="12700">
            <a:solidFill>
              <a:srgbClr val="1E40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66420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A8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Keyword: "community health workers"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190195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MeSH: "Community Health Workers"[MeSH]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28032" y="217627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ASHAs, CHWs, lay health workers, village health visitors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2706624"/>
            <a:ext cx="4041648" cy="978408"/>
          </a:xfrm>
          <a:prstGeom prst="rect">
            <a:avLst/>
          </a:prstGeom>
          <a:solidFill>
            <a:srgbClr val="173528"/>
          </a:solidFill>
          <a:ln w="12700">
            <a:solidFill>
              <a:srgbClr val="1E40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77977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A8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Keyword: "high blood pressure"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28032" y="301752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MeSH: "Hypertension"[MeSH]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329184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subtypes: essential, secondary, resistant, gestational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3822192"/>
            <a:ext cx="4041648" cy="978408"/>
          </a:xfrm>
          <a:prstGeom prst="rect">
            <a:avLst/>
          </a:prstGeom>
          <a:solidFill>
            <a:srgbClr val="173528"/>
          </a:solidFill>
          <a:ln w="12700">
            <a:solidFill>
              <a:srgbClr val="1E40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89534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A8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Keyword: "under five diarrhoea"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28032" y="413308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94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MeSH: "Diarrhea, Infantile"[MeSH]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8032" y="440740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Explodes: gastroenteritis, cholera infantum, summer diarrhoea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4389120"/>
            <a:ext cx="4041648" cy="219456"/>
          </a:xfrm>
          <a:prstGeom prst="rect">
            <a:avLst/>
          </a:prstGeom>
          <a:solidFill>
            <a:srgbClr val="0E9485">
              <a:alpha val="12000"/>
            </a:srgbClr>
          </a:solidFill>
          <a:ln w="12700">
            <a:solidFill>
              <a:srgbClr val="0E9485">
                <a:alpha val="2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4407408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[B1 p.30] 'You may like to consult various online tutorials for PubMed search.' Start at mesh.nlm.nih.gov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9E60"/>
          </a:solidFill>
          <a:ln w="12700">
            <a:solidFill>
              <a:srgbClr val="1E9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228600"/>
            <a:ext cx="1097280" cy="274320"/>
          </a:xfrm>
          <a:prstGeom prst="rect">
            <a:avLst/>
          </a:prstGeom>
          <a:solidFill>
            <a:srgbClr val="1E9E60"/>
          </a:solidFill>
          <a:ln w="12700">
            <a:solidFill>
              <a:srgbClr val="1E9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9344" y="1645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Example — Build a Complete PubMed Search Live : Do it yourself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8631936" cy="402336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 Does ASHA-led community hypertension screening improve early detection in rural Haryana?  (PICOS)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1700784"/>
            <a:ext cx="329184" cy="329184"/>
          </a:xfrm>
          <a:prstGeom prst="ellipse">
            <a:avLst/>
          </a:prstGeom>
          <a:solidFill>
            <a:srgbClr val="3DA8D8"/>
          </a:solidFill>
          <a:ln w="12700">
            <a:solidFill>
              <a:srgbClr val="3DA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700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719072"/>
            <a:ext cx="1261872" cy="201168"/>
          </a:xfrm>
          <a:prstGeom prst="rect">
            <a:avLst/>
          </a:prstGeom>
          <a:solidFill>
            <a:srgbClr val="3DA8D8"/>
          </a:solidFill>
          <a:ln w="12700">
            <a:solidFill>
              <a:srgbClr val="3D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1907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CONCEPTS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965960" y="1664208"/>
            <a:ext cx="6903720" cy="438912"/>
          </a:xfrm>
          <a:prstGeom prst="rect">
            <a:avLst/>
          </a:prstGeom>
          <a:solidFill>
            <a:srgbClr val="3DA8D8">
              <a:alpha val="10000"/>
            </a:srgbClr>
          </a:solidFill>
          <a:ln w="12700">
            <a:solidFill>
              <a:srgbClr val="3DA8D8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682496"/>
            <a:ext cx="6748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 Hypertension  ·  I: Community screening / ASHA  ·  C: Routine care  ·  O: Early detection  ·  S: RCT/Cohort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395728"/>
            <a:ext cx="329184" cy="329184"/>
          </a:xfrm>
          <a:prstGeom prst="ellipse">
            <a:avLst/>
          </a:prstGeom>
          <a:solidFill>
            <a:srgbClr val="0E9485"/>
          </a:solidFill>
          <a:ln w="12700">
            <a:solidFill>
              <a:srgbClr val="0E94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2414016"/>
            <a:ext cx="1261872" cy="201168"/>
          </a:xfrm>
          <a:prstGeom prst="rect">
            <a:avLst/>
          </a:prstGeom>
          <a:solidFill>
            <a:srgbClr val="0E9485"/>
          </a:solidFill>
          <a:ln w="12700">
            <a:solidFill>
              <a:srgbClr val="0E94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41401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EQUIVALENTS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965960" y="2359152"/>
            <a:ext cx="6903720" cy="438912"/>
          </a:xfrm>
          <a:prstGeom prst="rect">
            <a:avLst/>
          </a:prstGeom>
          <a:solidFill>
            <a:srgbClr val="0E9485">
              <a:alpha val="10000"/>
            </a:srgbClr>
          </a:solidFill>
          <a:ln w="12700">
            <a:solidFill>
              <a:srgbClr val="0E9485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39112" y="2377440"/>
            <a:ext cx="6748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"Hypertension"[MeSH]  ·  "Community Health Workers"[MeSH]  ·  "Mass Screening"[MeSH]  ·  "Rural Health"[MeSH]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090672"/>
            <a:ext cx="329184" cy="32918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108960"/>
            <a:ext cx="1261872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0896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SYNONYMS + OR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965960" y="3054096"/>
            <a:ext cx="6903720" cy="438912"/>
          </a:xfrm>
          <a:prstGeom prst="rect">
            <a:avLst/>
          </a:prstGeom>
          <a:solidFill>
            <a:srgbClr val="7B5EA7">
              <a:alpha val="10000"/>
            </a:srgbClr>
          </a:solidFill>
          <a:ln w="12700">
            <a:solidFill>
              <a:srgbClr val="7B5EA7">
                <a:alpha val="2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39112" y="3072384"/>
            <a:ext cx="6748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("Hypertension"[MeSH] OR "High Blood Pressure"[TIAB] OR "HTN"[TIAB])  AND  ("Community Health Workers"[MeSH] OR "ASHA"[TIAB] OR "lay health worker"[TIAB])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3785616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803904"/>
            <a:ext cx="1261872" cy="20116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80390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GEOGRAPHY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965960" y="3749040"/>
            <a:ext cx="6903720" cy="438912"/>
          </a:xfrm>
          <a:prstGeom prst="rect">
            <a:avLst/>
          </a:prstGeom>
          <a:solidFill>
            <a:srgbClr val="F0A500">
              <a:alpha val="10000"/>
            </a:srgbClr>
          </a:solidFill>
          <a:ln w="12700">
            <a:solidFill>
              <a:srgbClr val="F0A500">
                <a:alpha val="2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39112" y="3767328"/>
            <a:ext cx="6748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("Rural Health"[MeSH] OR "rural India"[TIAB] OR "Haryana"[TIAB] OR "village"[TIAB])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480560"/>
            <a:ext cx="329184" cy="329184"/>
          </a:xfrm>
          <a:prstGeom prst="ellipse">
            <a:avLst/>
          </a:prstGeom>
          <a:solidFill>
            <a:srgbClr val="1E9E60"/>
          </a:solidFill>
          <a:ln w="12700">
            <a:solidFill>
              <a:srgbClr val="1E9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4498848"/>
            <a:ext cx="1261872" cy="201168"/>
          </a:xfrm>
          <a:prstGeom prst="rect">
            <a:avLst/>
          </a:prstGeom>
          <a:solidFill>
            <a:srgbClr val="1E9E60"/>
          </a:solidFill>
          <a:ln w="12700">
            <a:solidFill>
              <a:srgbClr val="1E9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49884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FILTERS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965960" y="4443984"/>
            <a:ext cx="6903720" cy="438912"/>
          </a:xfrm>
          <a:prstGeom prst="rect">
            <a:avLst/>
          </a:prstGeom>
          <a:solidFill>
            <a:srgbClr val="1E9E60">
              <a:alpha val="10000"/>
            </a:srgbClr>
          </a:solidFill>
          <a:ln w="12700">
            <a:solidFill>
              <a:srgbClr val="1E9E60">
                <a:alpha val="2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39112" y="4462272"/>
            <a:ext cx="6748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E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Filters: Humans · English · 2010–2024 · India[Affiliation] · Publication type: RCT, Cohort, Cross-sectional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4910328"/>
            <a:ext cx="8631936" cy="219456"/>
          </a:xfrm>
          <a:prstGeom prst="rect">
            <a:avLst/>
          </a:prstGeom>
          <a:solidFill>
            <a:srgbClr val="0E9485">
              <a:alpha val="12000"/>
            </a:srgbClr>
          </a:solidFill>
          <a:ln w="12700">
            <a:solidFill>
              <a:srgbClr val="0E9485">
                <a:alpha val="2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928616"/>
            <a:ext cx="8494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'After using the same search functions, filters, and key terms, compare results. Direct students to follow your search and then perform the same search on their device.' : Consult online tutorials for PubMed search.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2EAB68">
              <a:alpha val="10000"/>
            </a:srgbClr>
          </a:solidFill>
          <a:ln w="12700">
            <a:solidFill>
              <a:srgbClr val="2EAB6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36576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HOW TO PICK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1,847 Papers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41 — How? 🔦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shows exactly how we sieve out the right studies...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— How Doctors Pick the Right Papers 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321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ANALOGY: Imagine 1,847 kids audition for your school play. PRISMA is the 4-round audition process — in each round, more kids get eliminated until only the BEST 41 make the final cast!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371600"/>
            <a:ext cx="4023360" cy="640080"/>
          </a:xfrm>
          <a:prstGeom prst="rect">
            <a:avLst/>
          </a:prstGeom>
          <a:solidFill>
            <a:srgbClr val="1C2033"/>
          </a:solidFill>
          <a:ln w="12700">
            <a:solidFill>
              <a:srgbClr val="1C2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4630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papers found in databases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44475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1,847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03904" y="2011680"/>
            <a:ext cx="73152" cy="18288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2194560"/>
            <a:ext cx="3657600" cy="640080"/>
          </a:xfrm>
          <a:prstGeom prst="rect">
            <a:avLst/>
          </a:prstGeom>
          <a:solidFill>
            <a:srgbClr val="252B45"/>
          </a:solidFill>
          <a:ln w="12700">
            <a:solidFill>
              <a:srgbClr val="252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286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duplicates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226771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1,240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03904" y="2834640"/>
            <a:ext cx="73152" cy="18288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2414016"/>
            <a:ext cx="457200" cy="1828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249424"/>
            <a:ext cx="3474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563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36208" y="2322576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607 duplicates removed — same paper in 2 databases!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3017520"/>
            <a:ext cx="3291840" cy="640080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3108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reading titles &amp; abstracts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09067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348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03904" y="3657600"/>
            <a:ext cx="73152" cy="18288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3236976"/>
            <a:ext cx="457200" cy="1828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3072384"/>
            <a:ext cx="3474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563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53328" y="3145536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892 removed — clearly off topic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3840480"/>
            <a:ext cx="2743200" cy="640080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931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reading full paper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51960" y="3913632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41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12080" y="4059936"/>
            <a:ext cx="457200" cy="1828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3895344"/>
            <a:ext cx="34747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563A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79008" y="3968496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307 removed — wrong design or missing data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Exclusion Criteria — Your Bouncer at the Door 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68096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138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ANALOGY: Like a shop that only sells children's shoes — any shoes that are not children's shoes get EXCLUDED. You decide the rules BEFORE shopping, not while shopping!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4251960" cy="3547872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89888"/>
            <a:ext cx="4251960" cy="384048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264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INCLUDE (Let IN)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" y="18653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design: RCTs, cohort, or cross-sectional surveys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" y="245059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children under 5, in India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" y="30358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must involve zinc supplementation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" y="362102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measures diarrhoea duration or frequency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" y="420624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between 2010 and 2024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28032" y="1389888"/>
            <a:ext cx="4251960" cy="3547872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28032" y="1389888"/>
            <a:ext cx="4251960" cy="38404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4264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EXCLUDE (Keep </a:t>
            </a:r>
            <a:r>
              <a:rPr lang="en-US" sz="14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r>
              <a:rPr lang="en-US" sz="13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92624" y="186537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studies (we need human/ studies in children!)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92624" y="245059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from outside India (different context)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92624" y="30358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control/comparison group included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92624" y="362102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available as a conference abstract (no full paper)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92624" y="420624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Editorials, letters, or opinion pieces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GOLDEN RULE: Always decide your criteria BEFORE you start screening. Never change the rules mid-game!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Extract From Each Paper 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321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🍯  ANALOGY: Think of each paper like a fruit. Data extraction is like squeezing out the JUICE — you want just the key information, not the whole fruit.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" y="1389888"/>
            <a:ext cx="2798064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389888"/>
            <a:ext cx="2798064" cy="365760"/>
          </a:xfrm>
          <a:prstGeom prst="rect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4447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Paper Identity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" y="18288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Author names &amp; year published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" y="213969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Journal name &amp; impact factor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" y="2450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Country where study was done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" y="27614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Was it funded? By whom?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45536" y="1389888"/>
            <a:ext cx="2798064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1389888"/>
            <a:ext cx="2798064" cy="365760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4447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Who was studied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55264" y="18288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How many people (sample size)?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55264" y="2139696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Age, sex, background of participants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55264" y="2450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Where were they (rural/urban/hospital)?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55264" y="27614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Inclusion &amp; exclusion criteria used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9904" y="1389888"/>
            <a:ext cx="2798064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1389888"/>
            <a:ext cx="2798064" cy="365760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4447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The Intervention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99632" y="18288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Exactly what treatment was given?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99632" y="213969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Dose, duration, frequency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9632" y="245059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Who delivered the intervention?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99632" y="276148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 was the control group given?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8" y="3200400"/>
            <a:ext cx="2798064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3200400"/>
            <a:ext cx="2798064" cy="365760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32552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The Results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10896" y="36393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Main findings (numbers with confidence intervals)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0896" y="395020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Was the result statistically significant?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0896" y="42611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 was the effect size?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" y="45720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Any side effects or harms reported?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145536" y="3200400"/>
            <a:ext cx="2798064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45536" y="3200400"/>
            <a:ext cx="2798064" cy="365760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55264" y="32552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Study Quality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55264" y="36393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Was randomisation done properly?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55264" y="395020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Were groups comparable at baseline?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55264" y="42611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Was blinding used to reduce bias?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55264" y="45720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Overall risk of bias rating (low/high)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89904" y="3200400"/>
            <a:ext cx="2798064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9904" y="3200400"/>
            <a:ext cx="2798064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32552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Conclusions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99632" y="36393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 did the AUTHORS conclude?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99632" y="395020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 did YOU (the reviewer) conclude?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99632" y="426110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Does this fit or contradict other studies?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99632" y="457200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 questions does this paper leave open?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E8A"/>
          </a:solidFill>
          <a:ln w="12700">
            <a:solidFill>
              <a:srgbClr val="E84E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4E8A"/>
          </a:solidFill>
          <a:ln w="12700">
            <a:solidFill>
              <a:srgbClr val="E84E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E84E8A">
              <a:alpha val="10000"/>
            </a:srgbClr>
          </a:solidFill>
          <a:ln w="12700">
            <a:solidFill>
              <a:srgbClr val="E84E8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36576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HOW TO JUDGE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Believe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Everything! ⚖️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does NOT mean proven — here's how to check...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E8A"/>
          </a:solidFill>
          <a:ln w="12700">
            <a:solidFill>
              <a:srgbClr val="E84E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Appraisal — Judge Every Paper! 🕵️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321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ANALOGY: Just because something is printed in a book doesn't make it TRUE. A critical appraisal checklist is your lie-detector test for medical research!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7 questions about EVERY paper you want to include in your review: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1719072"/>
            <a:ext cx="8631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" y="1792224"/>
            <a:ext cx="256032" cy="256032"/>
          </a:xfrm>
          <a:prstGeom prst="ellipse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1773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question clear?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90672" y="177393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research question specific enough? Vague questions = vague answers.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2194560"/>
            <a:ext cx="8631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" y="226771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" y="22494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design right?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90672" y="224942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type of study match the question? (RCT for treatment questions, etc.)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2670048"/>
            <a:ext cx="8631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743200"/>
            <a:ext cx="256032" cy="256032"/>
          </a:xfrm>
          <a:prstGeom prst="ellipse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" y="27249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big enough?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90672" y="27249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sample size large enough? Small studies can get lucky results by chance.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3145536"/>
            <a:ext cx="8631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" y="3218688"/>
            <a:ext cx="256032" cy="256032"/>
          </a:xfrm>
          <a:prstGeom prst="ellipse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groups the same?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90672" y="32004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start, were the two groups (treatment vs control) actually comparable?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3621024"/>
            <a:ext cx="8631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" y="3694176"/>
            <a:ext cx="256032" cy="256032"/>
          </a:xfrm>
          <a:prstGeom prst="ellipse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" y="36758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measurements valid?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90672" y="367588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measure the right thing, in the right way, with a reliable tool?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032" y="4096512"/>
            <a:ext cx="8631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" y="4169664"/>
            <a:ext cx="256032" cy="256032"/>
          </a:xfrm>
          <a:prstGeom prst="ellipse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" y="41513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stats correct?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90672" y="415137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 right statistical tests used? Was p-value confused with importance?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6032" y="4572000"/>
            <a:ext cx="8631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" y="4645152"/>
            <a:ext cx="256032" cy="256032"/>
          </a:xfrm>
          <a:prstGeom prst="ellipse">
            <a:avLst/>
          </a:prstGeom>
          <a:solidFill>
            <a:srgbClr val="E84E8A"/>
          </a:solidFill>
          <a:ln w="12700">
            <a:solidFill>
              <a:srgbClr val="E84E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4645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" y="46268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trust the result?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090672" y="462686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CONCLUSIONS match what the DATA actually showed? Any hidden bias?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— The Invisible Enemy of Research 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68096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138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ANALOGY: Bias is like a wonky scale — even if you weigh things correctly, the wrong answer keeps coming out. Bias makes research results look different from reality.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389888"/>
            <a:ext cx="2798064" cy="166420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89888"/>
            <a:ext cx="2798064" cy="54864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813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Publication Bias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792224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POSITIVE results get published. Negative results sit in a drawer. So the published evidence looks MORE positive than reality!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265176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Search trial registries for unpublished studies too.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1389888"/>
            <a:ext cx="2798064" cy="166420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389888"/>
            <a:ext cx="2798064" cy="54864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4813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Selection Bias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82696" y="1792224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of people chosen for the study doesn't represent normal patients. E.g. only wealthy hospital patients, not rural villagers.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82696" y="265176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if the study population matches YOUR patients.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17336" y="1389888"/>
            <a:ext cx="2798064" cy="166420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389888"/>
            <a:ext cx="2798064" cy="54864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4813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Language Bias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27064" y="1792224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who only read English miss studies published in Hindi, Chinese, German etc. They might miss important evidence!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27064" y="265176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Search multiple databases. Try non-English sources.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182112"/>
            <a:ext cx="2798064" cy="166420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182112"/>
            <a:ext cx="2798064" cy="54864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2735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Time-lag Bias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358444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studies get published faster than negative ones. So RECENT reviews look more positive than they should.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" y="444398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Include preprints and trial registries for fresh data.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72968" y="3182112"/>
            <a:ext cx="2798064" cy="166420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182112"/>
            <a:ext cx="27980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32735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Cherry-picking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82696" y="358444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only includes studies that AGREE with their opinion. This is cherry-picking — deliberately misleading!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82696" y="444398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Include ALL relevant studies, even ones that disagree.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17336" y="3182112"/>
            <a:ext cx="2798064" cy="166420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17336" y="3182112"/>
            <a:ext cx="2798064" cy="54864"/>
          </a:xfrm>
          <a:prstGeom prst="rect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32735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Definition Bias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27064" y="358444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studies define 'diarrhoea' differently — some say 2 loose stools, others say 3. Results can't be compared!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27064" y="444398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exact definitions carefully before combining data.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Evidence Should You Trust Most? 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321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ANALOGY: Evidence is like sports medals. Gold is the best (systematic reviews), silver is very good (RCTs), bronze is okay (observational studies), and participation ribbon is least reliable (expert opinion).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35024"/>
            <a:ext cx="5486400" cy="457200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264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Systematic Reviews + Meta-Analyses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10328" y="1426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STRONGEST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70448" y="140817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combined. BEST possible answer. Cochrane reviews are here.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4937760" cy="457200"/>
          </a:xfrm>
          <a:prstGeom prst="rect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93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Randomised Controlled Trials (RCTs)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1688" y="1993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VERY STRONG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21808" y="197510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allocate people to groups. Gold standard for treatment questions.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389120" cy="457200"/>
          </a:xfrm>
          <a:prstGeom prst="rect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Cohort &amp; Case-Control Studies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13048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STRONG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2542032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studies. Follow people over time. Good for causes.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035808"/>
            <a:ext cx="384048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Cross-Sectional Surveys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64408" y="3127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MODERATE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24528" y="310896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in time. Shows prevalence. Cannot prove cause and effect.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602736"/>
            <a:ext cx="3291840" cy="457200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94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Case Reports / Case Series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15768" y="3694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WEAK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75888" y="3675888"/>
            <a:ext cx="4828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 stories about individual patients. Cannot be generalised.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169664"/>
            <a:ext cx="2743200" cy="457200"/>
          </a:xfrm>
          <a:prstGeom prst="rect">
            <a:avLst/>
          </a:prstGeom>
          <a:solidFill>
            <a:srgbClr val="E84E8A"/>
          </a:solidFill>
          <a:ln w="12700">
            <a:solidFill>
              <a:srgbClr val="E84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Expert Opinion / Editorials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67128" y="42611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WEAKEST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27248" y="4242816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famous doctors think. Can be biased. Never rely on this alone.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47365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705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Rule: Always prefer the HIGHEST level of evidence available. If a Cochrane review exists on your topic — start there!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E8563A">
              <a:alpha val="10000"/>
            </a:srgbClr>
          </a:solidFill>
          <a:ln w="12700">
            <a:solidFill>
              <a:srgbClr val="E8563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36576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FINISH 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8368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Organise, Write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Remember 🏁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managers, the Candy Sort, 6 common mistakes and your 8 golden rules...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 a Paper Again — Reference Managers 🗄️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68096"/>
            <a:ext cx="8595360" cy="457200"/>
          </a:xfrm>
          <a:prstGeom prst="rect">
            <a:avLst/>
          </a:prstGeom>
          <a:solidFill>
            <a:srgbClr val="FEF3D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138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ANALOGY: Without a reference manager, organising your papers is like keeping a MESSY drawer of notes. With one, it's like having a PERFECT filing cabinet — find any paper in 5 seconds!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788920" cy="2487168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89888"/>
            <a:ext cx="2788920" cy="64008"/>
          </a:xfrm>
          <a:prstGeom prst="rect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63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Zotero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68880" y="1536192"/>
            <a:ext cx="475488" cy="201168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53619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1938528"/>
            <a:ext cx="25237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free tool. Install the browser plugin — it captures reference details automatically when you're on PubMed. One click saves the paper!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" y="3877056"/>
            <a:ext cx="2788920" cy="365760"/>
          </a:xfrm>
          <a:prstGeom prst="rect">
            <a:avLst/>
          </a:prstGeom>
          <a:solidFill>
            <a:srgbClr val="3BACD8">
              <a:alpha val="12000"/>
            </a:srgbClr>
          </a:solidFill>
          <a:ln w="12700">
            <a:solidFill>
              <a:srgbClr val="3BACD8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90448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choice for beginners. Start here.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389888"/>
            <a:ext cx="2788920" cy="2487168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389888"/>
            <a:ext cx="2788920" cy="64008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463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Mendeley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13248" y="1536192"/>
            <a:ext cx="475488" cy="201168"/>
          </a:xfrm>
          <a:prstGeom prst="rect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153619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28416" y="1938528"/>
            <a:ext cx="25237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reading and highlighting PDFs. Stores the full paper AND your notes together. Like a digital reading desk.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3877056"/>
            <a:ext cx="2788920" cy="365760"/>
          </a:xfrm>
          <a:prstGeom prst="rect">
            <a:avLst/>
          </a:prstGeom>
          <a:solidFill>
            <a:srgbClr val="2EAB68">
              <a:alpha val="12000"/>
            </a:srgbClr>
          </a:solidFill>
          <a:ln w="12700">
            <a:solidFill>
              <a:srgbClr val="2EAB68">
                <a:alpha val="2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390448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A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if you read a lot on screen.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44768" y="1389888"/>
            <a:ext cx="2788920" cy="2487168"/>
          </a:xfrm>
          <a:prstGeom prst="rect">
            <a:avLst/>
          </a:prstGeom>
          <a:solidFill>
            <a:srgbClr val="2E3554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1389888"/>
            <a:ext cx="27889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4630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EndNote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357616" y="1536192"/>
            <a:ext cx="475488" cy="20116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7616" y="153619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72784" y="1938528"/>
            <a:ext cx="25237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standard. Used for large systematic reviews with 500+ papers. Very powerful. Ask if your institution has a free licence.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44768" y="3877056"/>
            <a:ext cx="2788920" cy="365760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390448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 if AIMS has a free </a:t>
            </a:r>
            <a:r>
              <a:rPr lang="en-US" sz="95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it does have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315968"/>
            <a:ext cx="8631936" cy="658368"/>
          </a:xfrm>
          <a:prstGeom prst="rect">
            <a:avLst/>
          </a:prstGeom>
          <a:solidFill>
            <a:srgbClr val="252B45"/>
          </a:solidFill>
          <a:ln w="12700">
            <a:solidFill>
              <a:srgbClr val="2A326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4315968"/>
            <a:ext cx="73152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🍬 The Candy Sort — Organise Themes Not Papers!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0624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paper's key finding on a sticky note. Group them by theme. Name each theme. That becomes your review structure!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28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09344" y="1645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Mistakes That Sink Literature Reviews — Avoid Every One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201168" y="1078992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78992"/>
            <a:ext cx="502920" cy="1115568"/>
          </a:xfrm>
          <a:prstGeom prst="rect">
            <a:avLst/>
          </a:prstGeom>
          <a:solidFill>
            <a:srgbClr val="D95C5C">
              <a:alpha val="90000"/>
            </a:srgbClr>
          </a:solidFill>
          <a:ln w="12700">
            <a:solidFill>
              <a:srgbClr val="D95C5C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4264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" y="11704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Database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1481328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Always ≥3 databases. : MedLine, Embase, Cochrane for medical topics. One source misses 30–50% of relevant literature.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81728" y="1078992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078992"/>
            <a:ext cx="502920" cy="1115568"/>
          </a:xfrm>
          <a:prstGeom prst="rect">
            <a:avLst/>
          </a:prstGeom>
          <a:solidFill>
            <a:srgbClr val="D95C5C">
              <a:alpha val="90000"/>
            </a:srgbClr>
          </a:solidFill>
          <a:ln w="12700">
            <a:solidFill>
              <a:srgbClr val="D95C5C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4264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76088" y="11704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 Documentation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76088" y="1481328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Fiix</a:t>
            </a:r>
            <a:r>
              <a:rPr lang="en-US" sz="1200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'Walk students through how to save their search and receive search alerts.' Record date, database, string, hit count every session.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" y="2340864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340864"/>
            <a:ext cx="502920" cy="1115568"/>
          </a:xfrm>
          <a:prstGeom prst="rect">
            <a:avLst/>
          </a:prstGeom>
          <a:solidFill>
            <a:srgbClr val="D95C5C">
              <a:alpha val="90000"/>
            </a:srgbClr>
          </a:solidFill>
          <a:ln w="12700">
            <a:solidFill>
              <a:srgbClr val="D95C5C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68833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5528" y="243230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Cherry-Picking Evidence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" y="274320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The discussion should clearly resolve any conflicts with existing literature.' Include contradictory studies — it's science, not advocacy.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81728" y="2340864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2340864"/>
            <a:ext cx="502920" cy="1115568"/>
          </a:xfrm>
          <a:prstGeom prst="rect">
            <a:avLst/>
          </a:prstGeom>
          <a:solidFill>
            <a:srgbClr val="D95C5C">
              <a:alpha val="90000"/>
            </a:srgbClr>
          </a:solidFill>
          <a:ln w="12700">
            <a:solidFill>
              <a:srgbClr val="D95C5C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268833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76088" y="243230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Theses &amp; Abstracts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76088" y="274320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'Do not forget to consult previous theses on your topic. Conference abstracts may have to be searched manually.'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8" y="3602736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3602736"/>
            <a:ext cx="502920" cy="1115568"/>
          </a:xfrm>
          <a:prstGeom prst="rect">
            <a:avLst/>
          </a:prstGeom>
          <a:solidFill>
            <a:srgbClr val="D95C5C">
              <a:alpha val="90000"/>
            </a:srgbClr>
          </a:solidFill>
          <a:ln w="12700">
            <a:solidFill>
              <a:srgbClr val="D95C5C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9502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5528" y="369417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Citing Review Articles Only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" y="4005072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'Not all review articles have the same quality. Sieve good from not-so-good ones.' Go to primary sources every time.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81728" y="3602736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81728" y="3602736"/>
            <a:ext cx="502920" cy="1115568"/>
          </a:xfrm>
          <a:prstGeom prst="rect">
            <a:avLst/>
          </a:prstGeom>
          <a:solidFill>
            <a:srgbClr val="D95C5C">
              <a:alpha val="90000"/>
            </a:srgbClr>
          </a:solidFill>
          <a:ln w="12700">
            <a:solidFill>
              <a:srgbClr val="D95C5C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39502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76088" y="369417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'Book Report' Format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76088" y="4005072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Avoid the book report format (summary per paper). Organise by THEMES. 'Scholars must say something new while connecting to what's already been said.'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5943600" cy="5943600"/>
          </a:xfrm>
          <a:prstGeom prst="ellipse">
            <a:avLst/>
          </a:prstGeom>
          <a:solidFill>
            <a:srgbClr val="E8563A">
              <a:alpha val="5000"/>
            </a:srgbClr>
          </a:solidFill>
          <a:ln w="12700">
            <a:solidFill>
              <a:srgbClr val="E8563A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1645920"/>
            <a:ext cx="5029200" cy="5029200"/>
          </a:xfrm>
          <a:prstGeom prst="ellipse">
            <a:avLst/>
          </a:prstGeom>
          <a:solidFill>
            <a:srgbClr val="F5A623">
              <a:alpha val="4000"/>
            </a:srgbClr>
          </a:solidFill>
          <a:ln w="12700">
            <a:solidFill>
              <a:srgbClr val="F5A623">
                <a:alpha val="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8 Golden Rules to Remember 🏆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402336" cy="402336"/>
          </a:xfrm>
          <a:prstGeom prst="ellipse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100584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search BEFORE designing your study — not after!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975104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190195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at least 3 databases — PubMed alone misses 30-50% of papers.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" y="2871216"/>
            <a:ext cx="402336" cy="402336"/>
          </a:xfrm>
          <a:prstGeom prst="ellipse">
            <a:avLst/>
          </a:prstGeom>
          <a:solidFill>
            <a:srgbClr val="1A9E8A"/>
          </a:solidFill>
          <a:ln w="12700">
            <a:solidFill>
              <a:srgbClr val="1A9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279806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MeSH terms — they find papers that keywords alone will miss.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" y="3767328"/>
            <a:ext cx="402336" cy="402336"/>
          </a:xfrm>
          <a:prstGeom prst="ellipse">
            <a:avLst/>
          </a:prstGeom>
          <a:solidFill>
            <a:srgbClr val="7059C4"/>
          </a:solidFill>
          <a:ln w="12700">
            <a:solidFill>
              <a:srgbClr val="7059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" y="369417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search — database, date, exact words, how many results.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9744" y="1078992"/>
            <a:ext cx="402336" cy="402336"/>
          </a:xfrm>
          <a:prstGeom prst="ellipse">
            <a:avLst/>
          </a:prstGeom>
          <a:solidFill>
            <a:srgbClr val="2EAB68"/>
          </a:solidFill>
          <a:ln w="12700">
            <a:solidFill>
              <a:srgbClr val="2EAB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21808" y="100584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skip grey literature — India's real data is often hidden there.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9744" y="1975104"/>
            <a:ext cx="402336" cy="402336"/>
          </a:xfrm>
          <a:prstGeom prst="ellipse">
            <a:avLst/>
          </a:prstGeom>
          <a:solidFill>
            <a:srgbClr val="3BACD8"/>
          </a:solidFill>
          <a:ln w="12700">
            <a:solidFill>
              <a:srgbClr val="3BAC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21808" y="190195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IN/OUT criteria BEFORE you start reading. No changing rules!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9744" y="2871216"/>
            <a:ext cx="402336" cy="402336"/>
          </a:xfrm>
          <a:prstGeom prst="ellipse">
            <a:avLst/>
          </a:prstGeom>
          <a:solidFill>
            <a:srgbClr val="E84E8A"/>
          </a:solidFill>
          <a:ln w="12700">
            <a:solidFill>
              <a:srgbClr val="E84E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21808" y="279806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every paper — Published ≠ Proven. Use your checklist.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9744" y="3767328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21808" y="369417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by THEMES not by papers — tell a story, not a list.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E8563A"/>
          </a:solidFill>
          <a:ln w="12700">
            <a:solidFill>
              <a:srgbClr val="E856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C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researcher who cannot find evidence cannot generate it. Master the search — then master the world." 🌍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'Lacuna' Mean?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word. Enormous meaning. Let's decode it.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7899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🕳️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108813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Imagine a completed 1,000-piece jigsaw puzzle — but 3 pieces are MISSING. You can see the picture, but those blank spots drive you crazy. Those missing pieces are LACUNAE in research!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2798064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19072"/>
            <a:ext cx="2798064" cy="402336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556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📜  The Latin word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2194560"/>
            <a:ext cx="2578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Lacuna comes from Latin, meaning a PIT, a HOLE, or a MISSING PART. The plural is LACUNAE (lah-KOO-nee). In science, it means a gap in knowledge.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18688" y="1719072"/>
            <a:ext cx="2798064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719072"/>
            <a:ext cx="2798064" cy="402336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7556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🔬  In medical research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28416" y="2194560"/>
            <a:ext cx="2578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lacuna is an area that has NOT been studied yet, OR has been studied poorly, OR where results conflict and no clear answer exists.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63056" y="1719072"/>
            <a:ext cx="2798064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719072"/>
            <a:ext cx="2798064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17556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💡  Why it matters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72784" y="2194560"/>
            <a:ext cx="2578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research study must fill a lacuna. If there is no gap, there is no reason to do the study! Gaps JUSTIFY your research question.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Universe of Knowledge 🌌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Think of all human knowledge as outer space...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0" y="987552"/>
            <a:ext cx="4023360" cy="3730752"/>
          </a:xfrm>
          <a:prstGeom prst="ellipse">
            <a:avLst/>
          </a:prstGeom>
          <a:solidFill>
            <a:srgbClr val="111830"/>
          </a:solidFill>
          <a:ln w="12700">
            <a:solidFill>
              <a:srgbClr val="6C4FD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1417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POSSIBLE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0" y="1572768"/>
            <a:ext cx="2560320" cy="2377440"/>
          </a:xfrm>
          <a:prstGeom prst="ellipse">
            <a:avLst/>
          </a:prstGeom>
          <a:solidFill>
            <a:srgbClr val="2D3A8C">
              <a:alpha val="70000"/>
            </a:srgbClr>
          </a:solidFill>
          <a:ln w="12700">
            <a:solidFill>
              <a:srgbClr val="8B70E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B7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we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B7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719072"/>
            <a:ext cx="530352" cy="530352"/>
          </a:xfrm>
          <a:prstGeom prst="ellipse">
            <a:avLst/>
          </a:prstGeom>
          <a:solidFill>
            <a:srgbClr val="0A0E1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773936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2606040"/>
            <a:ext cx="530352" cy="530352"/>
          </a:xfrm>
          <a:prstGeom prst="ellipse">
            <a:avLst/>
          </a:prstGeom>
          <a:solidFill>
            <a:srgbClr val="0A0E1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660904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46320" y="2907792"/>
            <a:ext cx="530352" cy="530352"/>
          </a:xfrm>
          <a:prstGeom prst="ellipse">
            <a:avLst/>
          </a:prstGeom>
          <a:solidFill>
            <a:srgbClr val="0A0E1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962656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0" y="987552"/>
            <a:ext cx="2057400" cy="1152144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0" y="987552"/>
            <a:ext cx="2057400" cy="54864"/>
          </a:xfrm>
          <a:prstGeom prst="rect">
            <a:avLst/>
          </a:prstGeom>
          <a:solidFill>
            <a:srgbClr val="8B70E8"/>
          </a:solidFill>
          <a:ln w="12700">
            <a:solidFill>
              <a:srgbClr val="8B7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10789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8B7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🌟  Explored Territory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67728" y="1371600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humanity has already studied and published. Millions of research papers, textbooks, guidelines.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0" y="2304288"/>
            <a:ext cx="2057400" cy="1152144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2304288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239572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🕳️  Lacunae (The Gaps)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67728" y="2688336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Spots inside explored territory where knowledge is MISSING, WEAK, or CONTRADICTORY. Every '?' is a potential research project!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58000" y="3621024"/>
            <a:ext cx="2057400" cy="1152144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3621024"/>
            <a:ext cx="2057400" cy="54864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7728" y="3712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🚀  The Unknown Frontier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67728" y="4005072"/>
            <a:ext cx="18470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Areas NOBODY has looked at yet. Not just gaps — entire undiscovered territories. These are the boldest research questions.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Lacunae Are GOLD for Researchers 🥇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86384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4124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5039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gold miner doesn't dig where others have already dug. She finds a FRESH SPOT of ground no one has touched. Lacunae are your fresh spots — untouched ground where you can strike gold!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4264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lacuna does THREE things for your research career: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" y="1792224"/>
            <a:ext cx="2798064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792224"/>
            <a:ext cx="2798064" cy="402336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65376"/>
            <a:ext cx="420624" cy="420624"/>
          </a:xfrm>
          <a:prstGeom prst="ellipse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1109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6112" y="18653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🎟️  TICKET TO PUBLISH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research journal asks: 'What does this ADD to what we know?' If you can point to a gap and say 'THIS answers THAT', your paper has a chance of being accepted.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2578608" cy="18288"/>
          </a:xfrm>
          <a:prstGeom prst="rect">
            <a:avLst/>
          </a:prstGeom>
          <a:solidFill>
            <a:srgbClr val="6C4FD6">
              <a:alpha val="30000"/>
            </a:srgbClr>
          </a:solidFill>
          <a:ln w="12700">
            <a:solidFill>
              <a:srgbClr val="6C4FD6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393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'No study has examined ASHA-led hypertension screening in peri-urban Haryana. THIS study fills that gap.'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0" y="1792224"/>
            <a:ext cx="2798064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792224"/>
            <a:ext cx="2798064" cy="402336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0128" y="1865376"/>
            <a:ext cx="420624" cy="420624"/>
          </a:xfrm>
          <a:prstGeom prst="ellipse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91109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40480" y="18653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💰  TICKET TO FUNDING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10128" y="2267712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ICMR, WHO, Wellcome Trust — every funding body asks: 'Why is this research needed NOW?' Identifying a lacuna proves the need exists and the investment is justified.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10128" y="3602736"/>
            <a:ext cx="2578608" cy="18288"/>
          </a:xfrm>
          <a:prstGeom prst="rect">
            <a:avLst/>
          </a:prstGeom>
          <a:solidFill>
            <a:srgbClr val="1CA8A0">
              <a:alpha val="30000"/>
            </a:srgbClr>
          </a:solidFill>
          <a:ln w="12700">
            <a:solidFill>
              <a:srgbClr val="1CA8A0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36393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'Indian NFHS-5 data shows 28% of diabetics are undiagnosed — yet no intervention study exists for rural PHC settings.'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44768" y="1792224"/>
            <a:ext cx="2798064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1792224"/>
            <a:ext cx="2798064" cy="402336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1865376"/>
            <a:ext cx="420624" cy="420624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191109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84848" y="18653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🎓  TICKET TO YOUR DEGREE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54496" y="2267712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MD/PhD theses, the examiners will always ask: 'Why THIS topic?' Pointing to a specific, named lacuna shows intellectual rigour and research maturity.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54496" y="3602736"/>
            <a:ext cx="2578608" cy="18288"/>
          </a:xfrm>
          <a:prstGeom prst="rect">
            <a:avLst/>
          </a:prstGeom>
          <a:solidFill>
            <a:srgbClr val="28B580">
              <a:alpha val="30000"/>
            </a:srgbClr>
          </a:solidFill>
          <a:ln w="12700">
            <a:solidFill>
              <a:srgbClr val="28B580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6393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'Systematic reviews on zinc therapy exclude Indian children under 2 years — a gap this thesis addresses.'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1CA8A0">
              <a:alpha val="8000"/>
            </a:srgbClr>
          </a:solidFill>
          <a:ln w="12700">
            <a:solidFill>
              <a:srgbClr val="1CA8A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-365760"/>
            <a:ext cx="3657600" cy="3657600"/>
          </a:xfrm>
          <a:prstGeom prst="ellipse">
            <a:avLst/>
          </a:prstGeom>
          <a:solidFill>
            <a:srgbClr val="F5A623">
              <a:alpha val="5000"/>
            </a:srgbClr>
          </a:solidFill>
          <a:ln w="12700">
            <a:solidFill>
              <a:srgbClr val="F5A623">
                <a:alpha val="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5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WHY GAPS EXIST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Do Knowledge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Gaps Form? 🌱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Gaps aren't accidents — each has a reason. Know the reason, own the gap.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Knowledge Is Always Incomplete 🌱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046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1381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500 years ago, maps of the world had blank spaces labelled 'Here Be Dragons'. Every generation of explorers filled in more blanks — but new blanks always appeared at the edges. Research works the same way!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2798064" cy="1645920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389888"/>
            <a:ext cx="2798064" cy="54864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4813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🔬  Science advances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" y="182880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creates new questions. When we discovered antibiotics, new questions about resistance emerged. Every solution births fresh gaps.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72968" y="1389888"/>
            <a:ext cx="2798064" cy="1645920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389888"/>
            <a:ext cx="2798064" cy="54864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4813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🌏  New contexts emerge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82696" y="182880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treatment proven in the UK may never have been tested in India. Climate changes. New diseases appear. Populations shift. Context constantly creates new gaps.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17336" y="1389888"/>
            <a:ext cx="2798064" cy="1645920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389888"/>
            <a:ext cx="27980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14813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⏰  Knowledge has expiry dates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27064" y="1828800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study done in 1990 may be outdated in 2024. Guidelines change. Technology improves. Old answers become old gaps when re-examined.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8600" y="3182112"/>
            <a:ext cx="2798064" cy="1645920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182112"/>
            <a:ext cx="2798064" cy="54864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2735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💸  Resources are limited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8328" y="3621024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every question can be funded. Rare diseases, marginalised populations, unprofitable treatments — these remain understudied because money goes elsewhere.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172968" y="3182112"/>
            <a:ext cx="2798064" cy="1645920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3182112"/>
            <a:ext cx="2798064" cy="54864"/>
          </a:xfrm>
          <a:prstGeom prst="rect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82696" y="32735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38B2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🤫  Results go unpublished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82696" y="3621024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(treatments that DON'T work) rarely get published. This leaves artificial gaps — we keep repeating failed research because failures are hidden.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17336" y="3182112"/>
            <a:ext cx="2798064" cy="1645920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17336" y="3182112"/>
            <a:ext cx="2798064" cy="54864"/>
          </a:xfrm>
          <a:prstGeom prst="rect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327355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84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🔍  Measurement was impossible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27064" y="3621024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Some things couldn't be measured until new technology arrived. Brain imaging, genomics, real-time GPS tracking — technology creates gaps by making new measurements possible.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Creates New Questions 🔄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86384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4124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🧅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5039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Research is like peeling an onion. You peel one layer, thinking you've reached the centre — and there's ANOTHER layer underneath. Each layer is a gap waiting to be explored!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1188720" cy="548640"/>
          </a:xfrm>
          <a:prstGeom prst="line">
            <a:avLst/>
          </a:prstGeom>
          <a:noFill/>
          <a:ln w="19050">
            <a:solidFill>
              <a:srgbClr val="7A85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760720" y="2926080"/>
            <a:ext cx="0" cy="548640"/>
          </a:xfrm>
          <a:prstGeom prst="line">
            <a:avLst/>
          </a:prstGeom>
          <a:noFill/>
          <a:ln w="19050">
            <a:solidFill>
              <a:srgbClr val="7A85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206240" y="3840480"/>
            <a:ext cx="0" cy="0"/>
          </a:xfrm>
          <a:prstGeom prst="line">
            <a:avLst/>
          </a:prstGeom>
          <a:noFill/>
          <a:ln w="19050">
            <a:solidFill>
              <a:srgbClr val="7A85A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194560" y="3474720"/>
            <a:ext cx="0" cy="0"/>
          </a:xfrm>
          <a:prstGeom prst="line">
            <a:avLst/>
          </a:prstGeom>
          <a:noFill/>
          <a:ln w="19050">
            <a:solidFill>
              <a:srgbClr val="7A85A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645920" y="2286000"/>
            <a:ext cx="1554480" cy="0"/>
          </a:xfrm>
          <a:prstGeom prst="line">
            <a:avLst/>
          </a:prstGeom>
          <a:noFill/>
          <a:ln w="19050">
            <a:solidFill>
              <a:srgbClr val="7A85A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566160" y="1298448"/>
            <a:ext cx="1005840" cy="1005840"/>
          </a:xfrm>
          <a:prstGeom prst="ellipse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42646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Spot 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0" y="2157984"/>
            <a:ext cx="1005840" cy="1005840"/>
          </a:xfrm>
          <a:prstGeom prst="ellipse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2860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Design 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937760" y="3547872"/>
            <a:ext cx="1005840" cy="10058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67588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60320" y="3547872"/>
            <a:ext cx="1005840" cy="1005840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67588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463040" y="2157984"/>
            <a:ext cx="1005840" cy="1005840"/>
          </a:xfrm>
          <a:prstGeom prst="ellipse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22860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New GAPS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appear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017520" y="2304288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never ends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58000" y="1298448"/>
            <a:ext cx="2066544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298448"/>
            <a:ext cx="73152" cy="3639312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22592" y="1737360"/>
            <a:ext cx="18288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who find gaps are not saying previous researchers FAILED.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They are saying: 'You did amazing work — and you opened a door. I will walk through it.'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Gaps are compliments to previous researchers AND springboards for new ones.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🇮🇳  Real Gaps in Indian Medical Research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REAL gaps that exist TODAY — any one of these could become a research project!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2798064" cy="184708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2798064" cy="402336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7899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❤️  Hypertension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8328" y="14996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What we KNOW: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8328" y="170078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of hypertension in India: well documented nationally.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8328" y="2176272"/>
            <a:ext cx="2578608" cy="18288"/>
          </a:xfrm>
          <a:prstGeom prst="rect">
            <a:avLst/>
          </a:prstGeom>
          <a:solidFill>
            <a:srgbClr val="6C4FD6">
              <a:alpha val="30000"/>
            </a:srgbClr>
          </a:solidFill>
          <a:ln w="12700">
            <a:solidFill>
              <a:srgbClr val="6C4FD6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22311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🕳️ The GAP: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" y="243230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of ASHA-led blood pressure screening in peri-urban settings of Haryana — NOT studied.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72968" y="1024128"/>
            <a:ext cx="2798064" cy="184708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024128"/>
            <a:ext cx="2798064" cy="402336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07899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🩸  Diabetes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82696" y="14996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What we KNOW: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82696" y="170078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rates in urban India extensively researched.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82696" y="2176272"/>
            <a:ext cx="2578608" cy="18288"/>
          </a:xfrm>
          <a:prstGeom prst="rect">
            <a:avLst/>
          </a:prstGeom>
          <a:solidFill>
            <a:srgbClr val="1CA8A0">
              <a:alpha val="30000"/>
            </a:srgbClr>
          </a:solidFill>
          <a:ln w="12700">
            <a:solidFill>
              <a:srgbClr val="1CA8A0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22311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🕳️ The GAP: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82696" y="243230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Diabetic foot ulcer prevention by community health workers in rural PHC settings — almost NO data.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17336" y="1024128"/>
            <a:ext cx="2798064" cy="184708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1024128"/>
            <a:ext cx="2798064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107899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🍎  Child Nutrition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27064" y="14996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What we KNOW: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27064" y="170078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stunting rates from NFHS-5 well known for all states.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27064" y="2176272"/>
            <a:ext cx="2578608" cy="18288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22311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🕳️ The GAP: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27064" y="243230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Village-level barriers to ICDS uptake in tribal districts of Jharkhand — rarely studied.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3035808"/>
            <a:ext cx="2798064" cy="184708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035808"/>
            <a:ext cx="2798064" cy="402336"/>
          </a:xfrm>
          <a:prstGeom prst="rect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0906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🧠  Mental Health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8328" y="35112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What we KNOW: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38328" y="371246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of depression in general population surveyed multiple times.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38328" y="4187952"/>
            <a:ext cx="2578608" cy="18288"/>
          </a:xfrm>
          <a:prstGeom prst="rect">
            <a:avLst/>
          </a:prstGeom>
          <a:solidFill>
            <a:srgbClr val="E8456A">
              <a:alpha val="30000"/>
            </a:srgbClr>
          </a:solidFill>
          <a:ln w="12700">
            <a:solidFill>
              <a:srgbClr val="E8456A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42428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E84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🕳️ The GAP: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8328" y="44439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of ASHA workers themselves — their burnout, stress, support needs — barely studied.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172968" y="3035808"/>
            <a:ext cx="2798064" cy="184708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72968" y="3035808"/>
            <a:ext cx="2798064" cy="402336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2696" y="30906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🦠  Antimicrobial Resistance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282696" y="35112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What we KNOW: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282696" y="371246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National antibiogram data collected at tertiary hospital level.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282696" y="4187952"/>
            <a:ext cx="2578608" cy="18288"/>
          </a:xfrm>
          <a:prstGeom prst="rect">
            <a:avLst/>
          </a:prstGeom>
          <a:solidFill>
            <a:srgbClr val="28B580">
              <a:alpha val="30000"/>
            </a:srgbClr>
          </a:solidFill>
          <a:ln w="12700">
            <a:solidFill>
              <a:srgbClr val="28B580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82696" y="42428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🕳️ The GAP: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82696" y="44439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 AMR patterns in rural primary care — a massive, urgent gap.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117336" y="3035808"/>
            <a:ext cx="2798064" cy="184708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17336" y="3035808"/>
            <a:ext cx="2798064" cy="402336"/>
          </a:xfrm>
          <a:prstGeom prst="rect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7064" y="30906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👵  Geriatric Health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227064" y="351129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What we KNOW: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227064" y="371246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of chronic disease in elderly people studied at national level.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227064" y="4187952"/>
            <a:ext cx="2578608" cy="18288"/>
          </a:xfrm>
          <a:prstGeom prst="rect">
            <a:avLst/>
          </a:prstGeom>
          <a:solidFill>
            <a:srgbClr val="38B2E8">
              <a:alpha val="30000"/>
            </a:srgbClr>
          </a:solidFill>
          <a:ln w="12700">
            <a:solidFill>
              <a:srgbClr val="38B2E8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27064" y="424281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38B2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🕳️ The GAP: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227064" y="444398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WHO ICOPE screening in Indian field practice areas — not yet evaluated.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6C4FD6">
              <a:alpha val="8000"/>
            </a:srgbClr>
          </a:solidFill>
          <a:ln w="12700">
            <a:solidFill>
              <a:srgbClr val="6C4FD6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-365760"/>
            <a:ext cx="3657600" cy="3657600"/>
          </a:xfrm>
          <a:prstGeom prst="ellipse">
            <a:avLst/>
          </a:prstGeom>
          <a:solidFill>
            <a:srgbClr val="F5A623">
              <a:alpha val="5000"/>
            </a:srgbClr>
          </a:solidFill>
          <a:ln w="12700">
            <a:solidFill>
              <a:srgbClr val="F5A623">
                <a:alpha val="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5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FINDING THE GAPS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a Gap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the Literature 🔍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detective method that anyone can learn...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Detective Method 🕵️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steps in order. Each step reveals more of the gap.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6070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1069848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Finding a gap is like a detective solving a crime. You gather evidence (read papers), look for contradictions, notice what's MISSING from the crime scene, and name your suspect — the gap!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93392"/>
            <a:ext cx="457200" cy="457200"/>
          </a:xfrm>
          <a:prstGeom prst="ellipse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6968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📖  Read the best reviews first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6968" y="206654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systematic reviews and Cochrane reviews on your topic. These map what IS known and often LIST gaps in their 'Future Research' sections.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09160" y="1664208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993392"/>
            <a:ext cx="457200" cy="457200"/>
          </a:xfrm>
          <a:prstGeom prst="ellipse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67528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📋  Check authors' own limitations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67528" y="206654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good paper ends with a 'Limitations' section. These are authors ADMITTING where their study fell short — that's a gap handed to you on a plate!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55264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6968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🔮  Look at 'Future Research' sections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6968" y="332841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Authors often explicitly write: 'Future studies should examine...' This is a direct invitation. Accept it! Write it down as a potential lacuna.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255264"/>
            <a:ext cx="457200" cy="457200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67528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❓  Ask what's NOT there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67528" y="332841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 reading 20 papers, ask: 'Which population was never included? Which geography? Which age group? Which comparison was never made?' Absence is a gap.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4187952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517136"/>
            <a:ext cx="457200" cy="457200"/>
          </a:xfrm>
          <a:prstGeom prst="ellipse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86968" y="4261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84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⚡  Find the contradictions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86968" y="45902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When two papers say OPPOSITE things, that's a gap! Conflicting evidence means the question hasn't been properly answered yet — your job is to settle it.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Gaps Hide Inside a Paper 📄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046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1381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research paper is a treasure map. The X marking the spot isn't in the middle — it's hidden in specific SECTIONS. Know where to look and you'll find gaps in minutes!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2798064" cy="166420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389888"/>
            <a:ext cx="2798064" cy="54864"/>
          </a:xfrm>
          <a:prstGeom prst="rect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4813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8B2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" y="14813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richness: 🔥🔥🔥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" y="1810512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paragraph ALWAYS states the rationale for the study — i.e. the gap it fills. Copy this sentence. It tells you exactly what the authors saw as missing.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72968" y="1389888"/>
            <a:ext cx="2798064" cy="166420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389888"/>
            <a:ext cx="2798064" cy="54864"/>
          </a:xfrm>
          <a:prstGeom prst="rect">
            <a:avLst/>
          </a:prstGeom>
          <a:solidFill>
            <a:srgbClr val="7A85A8"/>
          </a:solidFill>
          <a:ln w="12700">
            <a:solidFill>
              <a:srgbClr val="7A8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4813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82696" y="14813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richness: 🔥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82696" y="1810512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Inclusion/exclusion criteria reveal WHO was left out. Every excluded group is a potential gap. 'We excluded rural participants' = rural participants = your gap.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17336" y="1389888"/>
            <a:ext cx="2798064" cy="166420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7336" y="1389888"/>
            <a:ext cx="2798064" cy="54864"/>
          </a:xfrm>
          <a:prstGeom prst="rect">
            <a:avLst/>
          </a:prstGeom>
          <a:solidFill>
            <a:srgbClr val="8B70E8"/>
          </a:solidFill>
          <a:ln w="12700">
            <a:solidFill>
              <a:srgbClr val="8B7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14813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B7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27064" y="14813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richness: 🔥🔥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27064" y="1810512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Subgroup analyses with small numbers say 'we tried but couldn't prove it here'. That's a gap. Tables with missing cells or 'not reported' also signal gaps.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28600" y="3182112"/>
            <a:ext cx="2798064" cy="166420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182112"/>
            <a:ext cx="2798064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2735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8328" y="32735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richness: 🔥🔥🔥🔥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8328" y="3602736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RICHEST source. Authors compare to prior work and say 'unlike Study X, we found Y — this discrepancy needs investigation.' = Gap identified!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172968" y="3182112"/>
            <a:ext cx="2798064" cy="166420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3182112"/>
            <a:ext cx="2798064" cy="54864"/>
          </a:xfrm>
          <a:prstGeom prst="rect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2696" y="32735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E84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82696" y="32735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richness: 🔥🔥🔥🔥🔥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82696" y="3602736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GOLDMINE. 'Our sample was small.' 'We could not blind participants.' 'We only followed up for 6 months.' Each limitation is an explicit, author-admitted gap.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17336" y="3182112"/>
            <a:ext cx="2798064" cy="166420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17336" y="3182112"/>
            <a:ext cx="2798064" cy="54864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32735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27064" y="32735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richness: 🔥🔥🔥🔥🔥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27064" y="3602736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Sometimes a separate section, sometimes part of the conclusion. Authors EXPLICITLY say: 'Future studies should examine...' — this is a direct invitation to YOU.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Gap Matrix — A Systematic Way to Find Gaps 🔢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86384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4124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5039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Imagine a school attendance register. Some students (populations/settings) are ABSENT from the list. The Gap Matrix is your attendance register for research — you mark who's missing!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Ask FOUR questions about any topic. Each empty cell = a potential lacuna: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032" y="1755648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755648"/>
            <a:ext cx="512064" cy="713232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883664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1755648"/>
            <a:ext cx="1572768" cy="713232"/>
          </a:xfrm>
          <a:prstGeom prst="rect">
            <a:avLst/>
          </a:prstGeom>
          <a:solidFill>
            <a:srgbClr val="6C4FD6">
              <a:alpha val="12000"/>
            </a:srgbClr>
          </a:solidFill>
          <a:ln w="12700">
            <a:solidFill>
              <a:srgbClr val="6C4FD6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81051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6112" y="2103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has been studied?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87168" y="1920240"/>
            <a:ext cx="629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Children ✅  Adults ✅  Elderly ✅  Pregnant women ❓  Tribal communities 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6032" y="2560320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560320"/>
            <a:ext cx="512064" cy="713232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688336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2960" y="2560320"/>
            <a:ext cx="1572768" cy="713232"/>
          </a:xfrm>
          <a:prstGeom prst="rect">
            <a:avLst/>
          </a:prstGeom>
          <a:solidFill>
            <a:srgbClr val="1CA8A0">
              <a:alpha val="12000"/>
            </a:srgbClr>
          </a:solidFill>
          <a:ln w="12700">
            <a:solidFill>
              <a:srgbClr val="1CA8A0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61518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6112" y="290779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has it been studied?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487168" y="2724912"/>
            <a:ext cx="629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Hospitals ✅  Urban community ✅  Rural PHC ❓  Tribal area ❌  Peri-urban 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6032" y="3364992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364992"/>
            <a:ext cx="512064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493008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2960" y="3364992"/>
            <a:ext cx="1572768" cy="713232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41985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96112" y="371246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When / for how long?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487168" y="3529584"/>
            <a:ext cx="629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(6 months) ✅  1 year ✅  Long-term (5+ years) ❌  Repeat cross-section 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56032" y="4169664"/>
            <a:ext cx="86319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4169664"/>
            <a:ext cx="512064" cy="713232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42976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2960" y="4169664"/>
            <a:ext cx="1572768" cy="713232"/>
          </a:xfrm>
          <a:prstGeom prst="rect">
            <a:avLst/>
          </a:prstGeom>
          <a:solidFill>
            <a:srgbClr val="28B580">
              <a:alpha val="12000"/>
            </a:srgbClr>
          </a:solidFill>
          <a:ln w="12700">
            <a:solidFill>
              <a:srgbClr val="28B580">
                <a:alpha val="2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42245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96112" y="4517136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approaches have been tested?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487168" y="4334256"/>
            <a:ext cx="629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Drug therapy ✅  Lifestyle ✅  mHealth apps ✅  ASHA-led programme ❌  Family-based 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56032" y="493776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= Studied  ❓ = Understudied  ❌ = Not studied at all (prime lacuna territory!)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a Gap Journal — Never Lose an Insight 📓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86384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4124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🍬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5039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Think of reading papers like sorting Halloween candy. Every time you find something interesting, don't just eat it — put it in a LABELLED BUCKET (your gap journal) so you can find it later!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422452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89888"/>
            <a:ext cx="73152" cy="3547872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481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to record for each gap you find: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0624" y="1920240"/>
            <a:ext cx="274320" cy="274320"/>
          </a:xfrm>
          <a:prstGeom prst="ellipse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6384" y="18836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10512" y="18836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Author, year, journal — where did you find this gap?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0624" y="2395728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6384" y="235915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Statement: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10512" y="23591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what exactly is missing?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0624" y="2871216"/>
            <a:ext cx="274320" cy="274320"/>
          </a:xfrm>
          <a:prstGeom prst="ellipse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6384" y="28346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Type: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810512" y="28346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Population? Setting? Method? Time? (see Types slide)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0624" y="3346704"/>
            <a:ext cx="274320" cy="274320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6384" y="331012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Quote: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810512" y="33101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sentence from the paper. Paste it verbatim.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20624" y="3822192"/>
            <a:ext cx="274320" cy="274320"/>
          </a:xfrm>
          <a:prstGeom prst="ellipse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86384" y="378561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84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Importance: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10512" y="378561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Rate 1-5. Why does this gap matter for patients/policy?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20624" y="4297680"/>
            <a:ext cx="274320" cy="274320"/>
          </a:xfrm>
          <a:prstGeom prst="ellipse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86384" y="42611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38B2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Feasible?: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810512" y="42611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 YOU study this? Resources, access, time available?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1389888"/>
            <a:ext cx="4224528" cy="3547872"/>
          </a:xfrm>
          <a:prstGeom prst="rect">
            <a:avLst/>
          </a:prstGeom>
          <a:solidFill>
            <a:srgbClr val="11183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389888"/>
            <a:ext cx="4224528" cy="329184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4264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📓  Example Gap Journal Entry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36592" y="1810512"/>
            <a:ext cx="749808" cy="347472"/>
          </a:xfrm>
          <a:prstGeom prst="rect">
            <a:avLst/>
          </a:prstGeom>
          <a:solidFill>
            <a:srgbClr val="38B2E8">
              <a:alpha val="12000"/>
            </a:srgbClr>
          </a:solidFill>
          <a:ln w="12700">
            <a:solidFill>
              <a:srgbClr val="38B2E8">
                <a:alpha val="2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186537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38B2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77840" y="184708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Ramachandran et al. (2021), Lancet Diabetes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736592" y="2304288"/>
            <a:ext cx="749808" cy="347472"/>
          </a:xfrm>
          <a:prstGeom prst="rect">
            <a:avLst/>
          </a:prstGeom>
          <a:solidFill>
            <a:srgbClr val="E8456A">
              <a:alpha val="12000"/>
            </a:srgbClr>
          </a:solidFill>
          <a:ln w="12700">
            <a:solidFill>
              <a:srgbClr val="E8456A">
                <a:alpha val="2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35915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84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577840" y="234086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ASHA-led foot screening not evaluated in rural PHC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736592" y="2798064"/>
            <a:ext cx="749808" cy="347472"/>
          </a:xfrm>
          <a:prstGeom prst="rect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285292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577840" y="283464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Setting gap + Population gap (rural, PHC level)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736592" y="3291840"/>
            <a:ext cx="749808" cy="347472"/>
          </a:xfrm>
          <a:prstGeom prst="rect">
            <a:avLst/>
          </a:prstGeom>
          <a:solidFill>
            <a:srgbClr val="28B580">
              <a:alpha val="12000"/>
            </a:srgbClr>
          </a:solidFill>
          <a:ln w="12700">
            <a:solidFill>
              <a:srgbClr val="28B580">
                <a:alpha val="28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334670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577840" y="332841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"Results may not generalise to rural primary care settings in low-resource states."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736592" y="3785616"/>
            <a:ext cx="749808" cy="347472"/>
          </a:xfrm>
          <a:prstGeom prst="rect">
            <a:avLst/>
          </a:prstGeom>
          <a:solidFill>
            <a:srgbClr val="8B70E8">
              <a:alpha val="12000"/>
            </a:srgbClr>
          </a:solidFill>
          <a:ln w="12700">
            <a:solidFill>
              <a:srgbClr val="8B70E8">
                <a:alpha val="28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3840480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8B7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577840" y="382219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— 26% of India's diabetics are rural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736592" y="4279392"/>
            <a:ext cx="749808" cy="347472"/>
          </a:xfrm>
          <a:prstGeom prst="rect">
            <a:avLst/>
          </a:prstGeom>
          <a:solidFill>
            <a:srgbClr val="1CA8A0">
              <a:alpha val="12000"/>
            </a:srgbClr>
          </a:solidFill>
          <a:ln w="12700">
            <a:solidFill>
              <a:srgbClr val="1CA8A0">
                <a:alpha val="2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433425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Feasible?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577840" y="431596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YES — RHTC Kheri Kalan, Faridabad — 74,874 pop.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-365760"/>
            <a:ext cx="3657600" cy="3657600"/>
          </a:xfrm>
          <a:prstGeom prst="ellipse">
            <a:avLst/>
          </a:prstGeom>
          <a:solidFill>
            <a:srgbClr val="F5A623">
              <a:alpha val="5000"/>
            </a:srgbClr>
          </a:solidFill>
          <a:ln w="12700">
            <a:solidFill>
              <a:srgbClr val="F5A623">
                <a:alpha val="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5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TYPES OF GAPS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Six Types of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 🗂️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all gaps are the same. Naming your gap type makes you sound like an expert!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Six Types of Knowledge Gaps 🗂️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gap you find belongs to one (or more) of these categories. Name it, and you'll write about it perfectly.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1042416"/>
            <a:ext cx="2798064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42416"/>
            <a:ext cx="2798064" cy="402336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09728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📭  1. Evidence Gap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0896" y="15179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studied this at all.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0896" y="181051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🎭 Like a completely blank page in a recipe book — no recipe exists yet!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0896" y="2231136"/>
            <a:ext cx="2578608" cy="18288"/>
          </a:xfrm>
          <a:prstGeom prst="rect">
            <a:avLst/>
          </a:prstGeom>
          <a:solidFill>
            <a:srgbClr val="6C4FD6">
              <a:alpha val="30000"/>
            </a:srgbClr>
          </a:solidFill>
          <a:ln w="12700">
            <a:solidFill>
              <a:srgbClr val="6C4FD6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228600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📌 e.g. ASHA-led mental health first aid in rural Haryana — zero RCTs exist.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45536" y="1042416"/>
            <a:ext cx="2798064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1042416"/>
            <a:ext cx="2798064" cy="402336"/>
          </a:xfrm>
          <a:prstGeom prst="rect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109728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👥  2. Population Gap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55264" y="15179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study was done, but NOT on your target group.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55264" y="181051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🎭 Like a shoe shop that only stocks adult sizes — children's feet never measured!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55264" y="2231136"/>
            <a:ext cx="2578608" cy="18288"/>
          </a:xfrm>
          <a:prstGeom prst="rect">
            <a:avLst/>
          </a:prstGeom>
          <a:solidFill>
            <a:srgbClr val="E8456A">
              <a:alpha val="30000"/>
            </a:srgbClr>
          </a:solidFill>
          <a:ln w="12700">
            <a:solidFill>
              <a:srgbClr val="E8456A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228600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📌 e.g. Cochrane reviews on zinc therapy exclude Indian infants under 12 months.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9904" y="1042416"/>
            <a:ext cx="2798064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042416"/>
            <a:ext cx="2798064" cy="402336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09728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🌍  3. Geographic Gap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99632" y="15179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Studies exist — but only from OTHER countries.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99632" y="181051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🎭 Weather forecast for London won't tell you Haryana's rainfall!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99632" y="2231136"/>
            <a:ext cx="2578608" cy="18288"/>
          </a:xfrm>
          <a:prstGeom prst="rect">
            <a:avLst/>
          </a:prstGeom>
          <a:solidFill>
            <a:srgbClr val="1CA8A0">
              <a:alpha val="30000"/>
            </a:srgbClr>
          </a:solidFill>
          <a:ln w="12700">
            <a:solidFill>
              <a:srgbClr val="1CA8A0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228600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📌 e.g. All AMR studies on UTI are from USA/Europe. India's community data is absent.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01168" y="2999232"/>
            <a:ext cx="2798064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1168" y="2999232"/>
            <a:ext cx="2798064" cy="402336"/>
          </a:xfrm>
          <a:prstGeom prst="rect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305409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🔬  4. Methodological Gap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10896" y="34747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Studies exist, but they used WEAK methods. Better-quality study needed.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10896" y="37673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🎭 Old photos were blurry. Now we have 4K cameras — retake the photo properly!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10896" y="4187952"/>
            <a:ext cx="2578608" cy="18288"/>
          </a:xfrm>
          <a:prstGeom prst="rect">
            <a:avLst/>
          </a:prstGeom>
          <a:solidFill>
            <a:srgbClr val="38B2E8">
              <a:alpha val="30000"/>
            </a:srgbClr>
          </a:solidFill>
          <a:ln w="12700">
            <a:solidFill>
              <a:srgbClr val="38B2E8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4242816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📌 e.g. HTN prevalence in rural India measured by unreliable self-report — no objective BP data.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145536" y="2999232"/>
            <a:ext cx="2798064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2999232"/>
            <a:ext cx="2798064" cy="402336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305409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⏰  5. Temporal Gap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55264" y="34747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Studies are too old — things have changed since they were done.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255264" y="37673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🎭 Using a 1990 map to navigate 2024 Delhi — new roads exist, old ones are gone!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255264" y="4187952"/>
            <a:ext cx="2578608" cy="18288"/>
          </a:xfrm>
          <a:prstGeom prst="rect">
            <a:avLst/>
          </a:prstGeom>
          <a:solidFill>
            <a:srgbClr val="28B580">
              <a:alpha val="30000"/>
            </a:srgbClr>
          </a:solidFill>
          <a:ln w="12700">
            <a:solidFill>
              <a:srgbClr val="28B580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55264" y="4242816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📌 e.g. NCD burden studies from pre-COVID era miss the massive post-COVID increase in diabetes.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089904" y="2999232"/>
            <a:ext cx="2798064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9904" y="2999232"/>
            <a:ext cx="2798064" cy="402336"/>
          </a:xfrm>
          <a:prstGeom prst="rect">
            <a:avLst/>
          </a:prstGeom>
          <a:solidFill>
            <a:srgbClr val="E87640"/>
          </a:solidFill>
          <a:ln w="12700">
            <a:solidFill>
              <a:srgbClr val="E876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305409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⚡  6. Contradiction Gap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199632" y="34747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studies give OPPOSITE answers. Someone needs to resolve this.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99632" y="37673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🎭 Two friends both saw the accident — but describe it completely differently. Who's right?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199632" y="4187952"/>
            <a:ext cx="2578608" cy="18288"/>
          </a:xfrm>
          <a:prstGeom prst="rect">
            <a:avLst/>
          </a:prstGeom>
          <a:solidFill>
            <a:srgbClr val="E87640">
              <a:alpha val="30000"/>
            </a:srgbClr>
          </a:solidFill>
          <a:ln w="12700">
            <a:solidFill>
              <a:srgbClr val="E87640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4242816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📌 e.g. Half the studies say salt restriction reduces BP in Indians; half say it makes no difference.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 vs Knowledge Gap — What's the Difference? 🤔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046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🍎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1381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An EVIDENCE gap is when no apple tree exists. A KNOWLEDGE gap is when the tree exists but nobody has counted the apples properly. Both matter. Both need different solutions!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4251960" cy="358444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89888"/>
            <a:ext cx="4251960" cy="438912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356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📭  EVIDENCE GAP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4048" y="1938528"/>
            <a:ext cx="4005072" cy="676656"/>
          </a:xfrm>
          <a:prstGeom prst="rect">
            <a:avLst/>
          </a:prstGeom>
          <a:solidFill>
            <a:srgbClr val="11183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933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" y="221284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topic has never been directly studied. No data exists. Complete absence of research.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4048" y="2688336"/>
            <a:ext cx="4005072" cy="676656"/>
          </a:xfrm>
          <a:prstGeom prst="rect">
            <a:avLst/>
          </a:prstGeom>
          <a:solidFill>
            <a:srgbClr val="11183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432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" y="296265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study has ever measured the impact of yoga on blood pressure in Indian truck drivers.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84048" y="3438144"/>
            <a:ext cx="4005072" cy="676656"/>
          </a:xfrm>
          <a:prstGeom prst="rect">
            <a:avLst/>
          </a:prstGeom>
          <a:solidFill>
            <a:srgbClr val="11183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4930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to fill it: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5488" y="37124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Design a NEW original study. You are the pioneer. No prior roadmap.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84048" y="4187952"/>
            <a:ext cx="4005072" cy="676656"/>
          </a:xfrm>
          <a:prstGeom prst="rect">
            <a:avLst/>
          </a:prstGeom>
          <a:solidFill>
            <a:srgbClr val="11183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24281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Urgency: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5488" y="446227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Highest — science has a blind spot here.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28032" y="1389888"/>
            <a:ext cx="4251960" cy="358444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1389888"/>
            <a:ext cx="4251960" cy="438912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4356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📖  KNOWLEDGE GAP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56048" y="1938528"/>
            <a:ext cx="4005072" cy="676656"/>
          </a:xfrm>
          <a:prstGeom prst="rect">
            <a:avLst/>
          </a:prstGeom>
          <a:solidFill>
            <a:srgbClr val="11183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199339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47488" y="221284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Studies exist but they are insufficient — too small, wrong population, poor methods, outdated, or contradictory.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956048" y="2688336"/>
            <a:ext cx="4005072" cy="676656"/>
          </a:xfrm>
          <a:prstGeom prst="rect">
            <a:avLst/>
          </a:prstGeom>
          <a:solidFill>
            <a:srgbClr val="11183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27432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47488" y="296265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 studies on yoga and BP exist but ALL were done in urban gym-going adults. Truck drivers excluded.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956048" y="3438144"/>
            <a:ext cx="4005072" cy="676656"/>
          </a:xfrm>
          <a:prstGeom prst="rect">
            <a:avLst/>
          </a:prstGeom>
          <a:solidFill>
            <a:srgbClr val="11183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34930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to fill it: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47488" y="37124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on existing work with better design, larger sample, or different population.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956048" y="4187952"/>
            <a:ext cx="4005072" cy="676656"/>
          </a:xfrm>
          <a:prstGeom prst="rect">
            <a:avLst/>
          </a:prstGeom>
          <a:solidFill>
            <a:srgbClr val="11183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424281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Urgency: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47488" y="446227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— we THINK we know but we're probably wrong.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E84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 All Gaps Are Equal — Strong vs Weak Gaps ⚖️</a:t>
            </a:r>
            <a:endParaRPr kumimoji="0" lang="en-US" sz="3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86384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4124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5039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Not all needs are equally urgent. 'We need more research on what colour stethoscopes doctors prefer' is a gap — but nobody cares. 'We need data on which drug prevents maternal deaths in India' is a gap the WORLD cares about!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42519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89888"/>
            <a:ext cx="4251960" cy="402336"/>
          </a:xfrm>
          <a:prstGeom prst="rect">
            <a:avLst/>
          </a:prstGeom>
          <a:solidFill>
            <a:srgbClr val="7A85A8"/>
          </a:solidFill>
          <a:ln w="12700">
            <a:solidFill>
              <a:srgbClr val="7A8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35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WEAK GAP ❌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" y="188366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Something trivial or irrelevant to real patients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23957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Already studied thoroughly — you just didn't search hard enough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29077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Too narrow to yield generalisable findings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34198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Driven by your curiosity alone, not by patient need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" y="39319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be studied with available resources or ethics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84048" y="4535424"/>
            <a:ext cx="4005072" cy="18288"/>
          </a:xfrm>
          <a:prstGeom prst="rect">
            <a:avLst/>
          </a:prstGeom>
          <a:solidFill>
            <a:srgbClr val="7A85A8">
              <a:alpha val="30000"/>
            </a:srgbClr>
          </a:solidFill>
          <a:ln w="12700">
            <a:solidFill>
              <a:srgbClr val="7A85A8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5902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📌 'No study has examined the snack preferences of cardiologists in Chandigarh.' — TRUE gap, zero importance.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28032" y="1389888"/>
            <a:ext cx="42519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1389888"/>
            <a:ext cx="4251960" cy="402336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435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STRONG GAP ✅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56048" y="188366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Addresses a real patient problem or policy question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56048" y="23957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Supported by multiple authors in multiple papers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56048" y="29077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Has clinical, public health, or social significance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56048" y="341985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Feasible: can be studied ethically and practically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56048" y="39319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Has clear implications if answered — will change practice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56048" y="4535424"/>
            <a:ext cx="4005072" cy="18288"/>
          </a:xfrm>
          <a:prstGeom prst="rect">
            <a:avLst/>
          </a:prstGeom>
          <a:solidFill>
            <a:srgbClr val="28B580">
              <a:alpha val="30000"/>
            </a:srgbClr>
          </a:solidFill>
          <a:ln w="12700">
            <a:solidFill>
              <a:srgbClr val="28B580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45902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📌 'No study has evaluated ASHA-led diabetic foot screening in rural Haryana PHCs despite 26% undiagnosed rate.' — Strong, important, feasible.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28B580">
              <a:alpha val="8000"/>
            </a:srgbClr>
          </a:solidFill>
          <a:ln w="12700">
            <a:solidFill>
              <a:srgbClr val="28B580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-365760"/>
            <a:ext cx="3657600" cy="3657600"/>
          </a:xfrm>
          <a:prstGeom prst="ellipse">
            <a:avLst/>
          </a:prstGeom>
          <a:solidFill>
            <a:srgbClr val="F5A623">
              <a:alpha val="5000"/>
            </a:srgbClr>
          </a:solidFill>
          <a:ln w="12700">
            <a:solidFill>
              <a:srgbClr val="F5A623">
                <a:alpha val="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5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USING THE GAPS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Turning Gaps Into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Research 🚀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'I found a gap' to 'I have a research proposal' in four steps...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Gap → Research Question → Study 🌉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046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🌉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1381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gap is a river you want to cross. A research question is the DESIGN of the bridge. Your study is the actual BRIDGE being built. No river (gap) = no bridge needed = no study justified!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" y="1353312"/>
            <a:ext cx="8631936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353312"/>
            <a:ext cx="475488" cy="804672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55448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6384" y="1426464"/>
            <a:ext cx="1261872" cy="219456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786384" y="142646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GAP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21408" y="1426464"/>
            <a:ext cx="4389120" cy="640080"/>
          </a:xfrm>
          <a:prstGeom prst="rect">
            <a:avLst/>
          </a:prstGeom>
          <a:solidFill>
            <a:srgbClr val="6C4FD6">
              <a:alpha val="10000"/>
            </a:srgbClr>
          </a:solidFill>
          <a:ln w="12700">
            <a:solidFill>
              <a:srgbClr val="6C4FD6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463040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'No study has evaluated ASHA-led diabetic foot screening in rural PHC settings in India.'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01968" y="14813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Clear, specific, named gap with evidence that it exists (citations from papers that admit it).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6032" y="2249424"/>
            <a:ext cx="8631936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249424"/>
            <a:ext cx="475488" cy="804672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45059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86384" y="2322576"/>
            <a:ext cx="1261872" cy="219456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232257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THE NEED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121408" y="2322576"/>
            <a:ext cx="4389120" cy="640080"/>
          </a:xfrm>
          <a:prstGeom prst="rect">
            <a:avLst/>
          </a:prstGeom>
          <a:solidFill>
            <a:srgbClr val="1CA8A0">
              <a:alpha val="10000"/>
            </a:srgbClr>
          </a:solidFill>
          <a:ln w="12700">
            <a:solidFill>
              <a:srgbClr val="1CA8A0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2359152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'26.3% of diabetics in rural Haryana are undiagnosed. Foot ulcers cost ₹2.4L per case. ASHA contact rate is 94%.'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01968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gap MATTER? Data that shows the size and urgency of the problem.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6032" y="3145536"/>
            <a:ext cx="8631936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145536"/>
            <a:ext cx="475488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34670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86384" y="3218688"/>
            <a:ext cx="1261872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21868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 THE QUESTION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121408" y="3218688"/>
            <a:ext cx="4389120" cy="640080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3255264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'Does ASHA-led diabetic foot screening improve early ulcer detection rates compared to standard care in rural Haryana PHCs?'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01968" y="3273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PICO question that directly addresses the gap. Every word in this question came from Step 1.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6032" y="4041648"/>
            <a:ext cx="8631936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041648"/>
            <a:ext cx="475488" cy="804672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2428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86384" y="4114800"/>
            <a:ext cx="1261872" cy="219456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" y="411480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STUDY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121408" y="4114800"/>
            <a:ext cx="4389120" cy="640080"/>
          </a:xfrm>
          <a:prstGeom prst="rect">
            <a:avLst/>
          </a:prstGeom>
          <a:solidFill>
            <a:srgbClr val="28B580">
              <a:alpha val="10000"/>
            </a:srgbClr>
          </a:solidFill>
          <a:ln w="12700">
            <a:solidFill>
              <a:srgbClr val="28B580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4151376"/>
            <a:ext cx="4242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Cluster RCT: 4 PHCs randomised. ASHA-led screening vs standard care. Primary outcome: foot ulcer incidence at 12 months.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601968" y="41696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study design flows directly from the question. The gap justified every design choice.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Gaps + Funding — How Lacunae Win Grants 💰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0467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13816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Asking for money without a gap is like opening a shop and saying 'give me rent money' without explaining what the shop sells or why the town needs it. Gaps are your BUSINESS CASE for research funding!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4160520" cy="358444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89888"/>
            <a:ext cx="73152" cy="35844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ICMR / Funders Ask: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0624" y="188366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6384" y="1883664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research NEEDED right now?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0624" y="245059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6384" y="245059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this ADD to existing knowledge?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0624" y="3017520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86384" y="301752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hasn't someone already answered this?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0624" y="358444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86384" y="3584448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is YOUR setting the right place to study this?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0624" y="4151376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6384" y="415137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BURDEN of disease if this gap is not filled?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17720" y="1389888"/>
            <a:ext cx="4279392" cy="3584448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389888"/>
            <a:ext cx="73152" cy="3584448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481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Lacunae Answer Them: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73168" y="1883664"/>
            <a:ext cx="256032" cy="256032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38928" y="1883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Cite 3 papers that admit this gap in their limitations section.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73168" y="2450592"/>
            <a:ext cx="256032" cy="256032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138928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State: 'This study is the FIRST to examine X in setting Y.'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73168" y="3017520"/>
            <a:ext cx="256032" cy="256032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138928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Explain: resource constraints, technology limits, neglected population.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73168" y="3584448"/>
            <a:ext cx="256032" cy="256032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138928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local burden data (NFHS-5, HMIS, your own hospital records).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773168" y="4151376"/>
            <a:ext cx="256032" cy="256032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4151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138928" y="4151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Calculate: cost of inaction. Lives lost. Money wasted. Use numbers.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38B2E8">
              <a:alpha val="8000"/>
            </a:srgbClr>
          </a:solidFill>
          <a:ln w="12700">
            <a:solidFill>
              <a:srgbClr val="38B2E8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-365760"/>
            <a:ext cx="3657600" cy="3657600"/>
          </a:xfrm>
          <a:prstGeom prst="ellipse">
            <a:avLst/>
          </a:prstGeom>
          <a:solidFill>
            <a:srgbClr val="F5A623">
              <a:alpha val="5000"/>
            </a:srgbClr>
          </a:solidFill>
          <a:ln w="12700">
            <a:solidFill>
              <a:srgbClr val="F5A623">
                <a:alpha val="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50" normalizeH="0" baseline="0" noProof="0" dirty="0">
                <a:ln>
                  <a:noFill/>
                </a:ln>
                <a:solidFill>
                  <a:srgbClr val="38B2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WRITING ABOUT GAPS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Lacunae in Your Thesis ✍️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38B2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Exact formulas, sentence starters, and what NOT to say...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38B2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Gaps Appear in Your Thesis 📄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86384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4124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5039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Writing about gaps is like building a house. The FOUNDATION (introduction) needs the gap first. The WALLS (literature review) build the case. The DOOR (rationale) opens with the gap as the key!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86319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89888"/>
            <a:ext cx="73152" cy="804672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4813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1️⃣  INTRODUCTION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(Last paragraph)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05456" y="1444752"/>
            <a:ext cx="36576" cy="694944"/>
          </a:xfrm>
          <a:prstGeom prst="rect">
            <a:avLst/>
          </a:prstGeom>
          <a:solidFill>
            <a:srgbClr val="CDD2E8"/>
          </a:solidFill>
          <a:ln w="12700">
            <a:solidFill>
              <a:srgbClr val="CDD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46304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gap DIRECTLY. This is the climax of your introduction — everything before leads here.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33472" y="1828800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"'Despite extensive research on X in urban settings, no study has examined X in rural PHC contexts in India — a gap this study addresses.'"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6032" y="2304288"/>
            <a:ext cx="86319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304288"/>
            <a:ext cx="73152" cy="804672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3957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2️⃣  REVIEW OF LITERATURE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(Final summary)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05456" y="2359152"/>
            <a:ext cx="36576" cy="694944"/>
          </a:xfrm>
          <a:prstGeom prst="rect">
            <a:avLst/>
          </a:prstGeom>
          <a:solidFill>
            <a:srgbClr val="CDD2E8"/>
          </a:solidFill>
          <a:ln w="12700">
            <a:solidFill>
              <a:srgbClr val="CDD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237744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 reviewing all existing studies, write a synthesis paragraph that explicitly names the gaps revealed.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33472" y="2743200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"'A review of the literature reveals three key lacunae: (1) absence of Indian data, (2) no studies on ASHA delivery, (3) no long-term outcomes measured.'"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6032" y="3218688"/>
            <a:ext cx="86319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218688"/>
            <a:ext cx="7315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3101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3️⃣  RATIONALE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(Standalone section)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05456" y="3273552"/>
            <a:ext cx="36576" cy="694944"/>
          </a:xfrm>
          <a:prstGeom prst="rect">
            <a:avLst/>
          </a:prstGeom>
          <a:solidFill>
            <a:srgbClr val="CDD2E8"/>
          </a:solidFill>
          <a:ln w="12700">
            <a:solidFill>
              <a:srgbClr val="CDD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329184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Make the gap the ENTIRE rationale. This section exists only to justify your study's existence.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633472" y="3657600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"'The lacuna identified in the literature — the absence of community-level intervention data in rural Haryana — forms the scientific basis for this investigation.'"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56032" y="4133088"/>
            <a:ext cx="86319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4133088"/>
            <a:ext cx="73152" cy="804672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4224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4️⃣  DISCUSSION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(Future research)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05456" y="4187952"/>
            <a:ext cx="36576" cy="694944"/>
          </a:xfrm>
          <a:prstGeom prst="rect">
            <a:avLst/>
          </a:prstGeom>
          <a:solidFill>
            <a:srgbClr val="CDD2E8"/>
          </a:solidFill>
          <a:ln w="12700">
            <a:solidFill>
              <a:srgbClr val="CDD2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420624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study will create NEW gaps. Name them. Researchers who read your work need to know where to go next.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633472" y="4572000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"'This study was limited to adults over 40; future research should examine the 30-40 age group where early intervention may be most impactful.'"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 for Writing Gaps ✍️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B70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These formulas work every time. Fill in the blanks for your own topic!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4251960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24128"/>
            <a:ext cx="73152" cy="804672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078992"/>
            <a:ext cx="1463040" cy="201168"/>
          </a:xfrm>
          <a:prstGeom prst="rect">
            <a:avLst/>
          </a:prstGeom>
          <a:solidFill>
            <a:srgbClr val="6C4FD6">
              <a:alpha val="15000"/>
            </a:srgbClr>
          </a:solidFill>
          <a:ln w="12700">
            <a:solidFill>
              <a:srgbClr val="6C4FD6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078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the gap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0624" y="1316736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"Despite extensive research on [TOPIC], no study has examined [YOUR SPECIFIC ANGLE] in [YOUR SETTING/POPULATION]."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36592" y="1024128"/>
            <a:ext cx="4251960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024128"/>
            <a:ext cx="73152" cy="804672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1078992"/>
            <a:ext cx="1463040" cy="201168"/>
          </a:xfrm>
          <a:prstGeom prst="rect">
            <a:avLst/>
          </a:prstGeom>
          <a:solidFill>
            <a:srgbClr val="1CA8A0">
              <a:alpha val="15000"/>
            </a:srgbClr>
          </a:solidFill>
          <a:ln w="12700">
            <a:solidFill>
              <a:srgbClr val="1CA8A0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078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gap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01184" y="1316736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"A notable lacuna in the existing literature is the absence of data on [TOPIC] among [POPULATION] in [SETTING/COUNTRY]."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6032" y="1920240"/>
            <a:ext cx="4251960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920240"/>
            <a:ext cx="7315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1975104"/>
            <a:ext cx="1463040" cy="201168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975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from contradiction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0624" y="2212848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"The literature presents conflicting evidence on [TOPIC], with [AUTHOR A] reporting [RESULT 1] while [AUTHOR B] found [RESULT 2]. This discrepancy warrants further investigation."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36592" y="1920240"/>
            <a:ext cx="4251960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1920240"/>
            <a:ext cx="73152" cy="804672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01184" y="1975104"/>
            <a:ext cx="1463040" cy="201168"/>
          </a:xfrm>
          <a:prstGeom prst="rect">
            <a:avLst/>
          </a:prstGeom>
          <a:solidFill>
            <a:srgbClr val="28B580">
              <a:alpha val="15000"/>
            </a:srgbClr>
          </a:solidFill>
          <a:ln w="12700">
            <a:solidFill>
              <a:srgbClr val="28B580">
                <a:alpha val="2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1975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28B5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Gap from limitation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01184" y="2212848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"[AUTHOR] acknowledged that their study was limited to [SETTING/POPULATION], suggesting that findings may not generalise to [YOUR SETTING] — the focus of the present study."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6032" y="2816352"/>
            <a:ext cx="4251960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816352"/>
            <a:ext cx="73152" cy="804672"/>
          </a:xfrm>
          <a:prstGeom prst="rect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2871216"/>
            <a:ext cx="1463040" cy="201168"/>
          </a:xfrm>
          <a:prstGeom prst="rect">
            <a:avLst/>
          </a:prstGeom>
          <a:solidFill>
            <a:srgbClr val="E8456A">
              <a:alpha val="15000"/>
            </a:srgbClr>
          </a:solidFill>
          <a:ln w="12700">
            <a:solidFill>
              <a:srgbClr val="E8456A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28712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E84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gap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20624" y="310896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"Most available evidence originates from high-income countries. Data from India, particularly from [STATE/REGION], remain scarce, representing a significant gap this study addresses."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36592" y="2816352"/>
            <a:ext cx="4251960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2816352"/>
            <a:ext cx="73152" cy="804672"/>
          </a:xfrm>
          <a:prstGeom prst="rect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01184" y="2871216"/>
            <a:ext cx="1463040" cy="201168"/>
          </a:xfrm>
          <a:prstGeom prst="rect">
            <a:avLst/>
          </a:prstGeom>
          <a:solidFill>
            <a:srgbClr val="38B2E8">
              <a:alpha val="15000"/>
            </a:srgbClr>
          </a:solidFill>
          <a:ln w="12700">
            <a:solidFill>
              <a:srgbClr val="38B2E8">
                <a:alpha val="2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28712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38B2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gap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01184" y="310896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"Previous studies have relied on [WEAK METHOD, e.g., self-report]. No study has employed [STRONGER METHOD] to objectively assess [OUTCOME] — a methodological gap the present work fills."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6032" y="3712464"/>
            <a:ext cx="4251960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712464"/>
            <a:ext cx="7315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" y="3767328"/>
            <a:ext cx="1463040" cy="201168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rationale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20624" y="4005072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"The lacuna identified above — [BRIEF GAP RESTATEMENT] — provides the scientific basis and justification for this study."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36592" y="3712464"/>
            <a:ext cx="4251960" cy="804672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3712464"/>
            <a:ext cx="73152" cy="804672"/>
          </a:xfrm>
          <a:prstGeom prst="rect">
            <a:avLst/>
          </a:prstGeom>
          <a:solidFill>
            <a:srgbClr val="7A85A8"/>
          </a:solidFill>
          <a:ln w="12700">
            <a:solidFill>
              <a:srgbClr val="7A85A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1184" y="3767328"/>
            <a:ext cx="1463040" cy="201168"/>
          </a:xfrm>
          <a:prstGeom prst="rect">
            <a:avLst/>
          </a:prstGeom>
          <a:solidFill>
            <a:srgbClr val="7A85A8">
              <a:alpha val="15000"/>
            </a:srgbClr>
          </a:solidFill>
          <a:ln w="12700">
            <a:solidFill>
              <a:srgbClr val="7A85A8">
                <a:alpha val="28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37673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Creating future gaps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901184" y="4005072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"Future studies should examine [AREA THIS STUDY COULD NOT COVER], as the present work was constrained by [YOUR LIMITATION]."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E84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Do's and Don'ts of Writing Lacunae 🚦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8595360" cy="512064"/>
          </a:xfrm>
          <a:prstGeom prst="rect">
            <a:avLst/>
          </a:prstGeom>
          <a:solidFill>
            <a:srgbClr val="FEF5DC"/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86384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4124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850392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1" u="none" strike="noStrike" kern="1200" cap="none" spc="0" normalizeH="0" baseline="0" noProof="0" dirty="0">
                <a:ln>
                  <a:noFill/>
                </a:ln>
                <a:solidFill>
                  <a:srgbClr val="5A3A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ANALOGY: Writing about gaps is like giving a GPS direction. 'Go somewhere north' is bad. 'Turn left on MG Road, go 2km, and the destination is on your right' is PERFECT. Be specific, evidence-based, and directional!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" y="1389888"/>
            <a:ext cx="42519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89888"/>
            <a:ext cx="4251960" cy="402336"/>
          </a:xfrm>
          <a:prstGeom prst="rect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35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 DO THESE 5 THINGS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" y="188366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 Cite the papers that ADMIT the gap — don't just claim it exists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4048" y="246888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 State the gap in ONE clear, specific sentence first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30540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 Name the gap TYPE (population/geographic/methodological etc.)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36393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 Quantify the importance — use numbers to show why it matters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" y="422452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 State how YOUR study fills THIS specific gap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28032" y="1389888"/>
            <a:ext cx="42519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28032" y="1389888"/>
            <a:ext cx="4251960" cy="402336"/>
          </a:xfrm>
          <a:prstGeom prst="rect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435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 AVOID THESE 5 THINGS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56048" y="188366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 Don't say 'more research is needed' — say WHAT research, WHO for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56048" y="246888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 Don't claim a gap you can't prove — show the citation trail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56048" y="305409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 Don't write three paragraphs — one strong sentence beats ten vague ones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56048" y="363931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 Don't exaggerate — 'nobody on Earth has ever...' sounds lazy, not rigorous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56048" y="422452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 Don't forget: the gap in your introduction MUST match your research objective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6C4FD6">
              <a:alpha val="8000"/>
            </a:srgbClr>
          </a:solidFill>
          <a:ln w="12700">
            <a:solidFill>
              <a:srgbClr val="6C4FD6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-365760"/>
            <a:ext cx="3657600" cy="3657600"/>
          </a:xfrm>
          <a:prstGeom prst="ellipse">
            <a:avLst/>
          </a:prstGeom>
          <a:solidFill>
            <a:srgbClr val="F5A623">
              <a:alpha val="5000"/>
            </a:srgbClr>
          </a:solidFill>
          <a:ln w="12700">
            <a:solidFill>
              <a:srgbClr val="F5A623">
                <a:alpha val="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35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MASTER IT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&amp; Golden Rules 🏆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See real gaps in action, then remember the rules forever...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🔬 Three Lacunae Written Out — Before &amp; After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See how a vague idea becomes a powerful, citeable lacuna statement in one step.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8631936" cy="1225296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87552"/>
            <a:ext cx="457200" cy="1225296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737360"/>
            <a:ext cx="8449056" cy="18288"/>
          </a:xfrm>
          <a:prstGeom prst="rect">
            <a:avLst/>
          </a:prstGeom>
          <a:solidFill>
            <a:srgbClr val="1E2E5A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042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&amp; Hypertension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78224" y="1060704"/>
            <a:ext cx="1325880" cy="201168"/>
          </a:xfrm>
          <a:prstGeom prst="rect">
            <a:avLst/>
          </a:prstGeom>
          <a:solidFill>
            <a:srgbClr val="6C4FD6">
              <a:alpha val="15000"/>
            </a:srgbClr>
          </a:solidFill>
          <a:ln w="12700">
            <a:solidFill>
              <a:srgbClr val="6C4FD6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78224" y="10607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6C4FD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+ Population Gap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672" y="13167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WEAK: 'More studies on hypertension in India are needed.'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18304" y="1097280"/>
            <a:ext cx="4059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STRONG: "Despite 30 studies on hypertension prevalence in India, no RCT has evaluated ASHA-led screening in peri-urban PHC settings [Singh 2021; Mohan 2022]. This geographic and population gap forms the rationale for the present study."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6032" y="2340864"/>
            <a:ext cx="8631936" cy="1225296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340864"/>
            <a:ext cx="457200" cy="1225296"/>
          </a:xfrm>
          <a:prstGeom prst="rect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3090672"/>
            <a:ext cx="8449056" cy="18288"/>
          </a:xfrm>
          <a:prstGeom prst="rect">
            <a:avLst/>
          </a:prstGeom>
          <a:solidFill>
            <a:srgbClr val="1E2E5A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395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Zinc Therapy in Children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78224" y="2414016"/>
            <a:ext cx="1325880" cy="201168"/>
          </a:xfrm>
          <a:prstGeom prst="rect">
            <a:avLst/>
          </a:prstGeom>
          <a:solidFill>
            <a:srgbClr val="1CA8A0">
              <a:alpha val="15000"/>
            </a:srgbClr>
          </a:solidFill>
          <a:ln w="12700">
            <a:solidFill>
              <a:srgbClr val="1CA8A0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8224" y="24140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1CA8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+ Geographic Gap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4672" y="26700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WEAK: 'Zinc supplementation has been studied but not enough in India.'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18304" y="2450592"/>
            <a:ext cx="4059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STRONG: "Cochrane reviews on zinc therapy (Lazzerini 2018) exclude children under 12 months and studies from South Asia. This population gap means evidence cannot be generalised to Indian infants — the target of this investigation."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6032" y="3694176"/>
            <a:ext cx="8631936" cy="1225296"/>
          </a:xfrm>
          <a:prstGeom prst="rect">
            <a:avLst/>
          </a:prstGeom>
          <a:solidFill>
            <a:srgbClr val="192240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694176"/>
            <a:ext cx="457200" cy="12252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4443984"/>
            <a:ext cx="8449056" cy="18288"/>
          </a:xfrm>
          <a:prstGeom prst="rect">
            <a:avLst/>
          </a:prstGeom>
          <a:solidFill>
            <a:srgbClr val="1E2E5A"/>
          </a:solidFill>
          <a:ln w="12700">
            <a:solidFill>
              <a:srgbClr val="1E2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749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AMR Surveillance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78224" y="3767328"/>
            <a:ext cx="1325880" cy="201168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78224" y="37673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5A62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+ Geographic Gap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4672" y="4023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❌ WEAK: 'AMR is a big problem and India needs more research.'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18304" y="3803904"/>
            <a:ext cx="4059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B8C0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STRONG: "Existing Indian antibiogram data originate exclusively from tertiary hospital settings [ICMR 2021]. Community-level AMR patterns in rural PHCs — where 70% of antibiotic prescriptions are written — remain wholly uncharacterised, a critical methodological gap."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E84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6 Mistakes Students Make with Lacunae ⚠️</a:t>
            </a:r>
            <a:endParaRPr kumimoji="0" lang="en-US" sz="3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examiner knows these mistakes. Don't let them happen to you.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" y="1042416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42416"/>
            <a:ext cx="493776" cy="1207008"/>
          </a:xfrm>
          <a:prstGeom prst="rect">
            <a:avLst/>
          </a:prstGeom>
          <a:solidFill>
            <a:srgbClr val="E8456A">
              <a:alpha val="90000"/>
            </a:srgbClr>
          </a:solidFill>
          <a:ln w="12700">
            <a:solidFill>
              <a:srgbClr val="E8456A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408176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4672" y="111556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🕳️  Claiming a gap without evidence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1481328"/>
            <a:ext cx="3529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Fix: Every lacuna needs AT LEAST ONE citation — a paper that admits the gap in its limitations or future research section.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81728" y="1042416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042416"/>
            <a:ext cx="493776" cy="1207008"/>
          </a:xfrm>
          <a:prstGeom prst="rect">
            <a:avLst/>
          </a:prstGeom>
          <a:solidFill>
            <a:srgbClr val="E8456A">
              <a:alpha val="90000"/>
            </a:srgbClr>
          </a:solidFill>
          <a:ln w="12700">
            <a:solidFill>
              <a:srgbClr val="E8456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408176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85232" y="111556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🌊  Being too vague ('more research needed')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85232" y="1481328"/>
            <a:ext cx="3529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Fix: 'More research needed' is never a lacuna. Name: WHAT research, for WHOM, WHERE, using WHAT method, measuring WHAT outcome.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01168" y="23774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2377440"/>
            <a:ext cx="493776" cy="1207008"/>
          </a:xfrm>
          <a:prstGeom prst="rect">
            <a:avLst/>
          </a:prstGeom>
          <a:solidFill>
            <a:srgbClr val="E8456A">
              <a:alpha val="90000"/>
            </a:srgbClr>
          </a:solidFill>
          <a:ln w="12700">
            <a:solidFill>
              <a:srgbClr val="E8456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2743200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4672" y="245059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🔎  Not actually searching thoroughly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4672" y="2816352"/>
            <a:ext cx="3529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Fix: If you didn't search PubMed + IndMED + Cochrane + grey literature, you can't claim a gap. Someone may have studied it — you just didn't look hard enough.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81728" y="2377440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2377440"/>
            <a:ext cx="493776" cy="1207008"/>
          </a:xfrm>
          <a:prstGeom prst="rect">
            <a:avLst/>
          </a:prstGeom>
          <a:solidFill>
            <a:srgbClr val="E8456A">
              <a:alpha val="90000"/>
            </a:srgbClr>
          </a:solidFill>
          <a:ln w="12700">
            <a:solidFill>
              <a:srgbClr val="E8456A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743200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85232" y="245059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🌍  Mistaking a Western gap for an Indian gap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85232" y="2816352"/>
            <a:ext cx="3529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Fix: Lots of evidence may exist from the USA or UK. That does NOT mean India has a gap. Check IndMED. Read Indian journals. Search 'India' as a filter.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01168" y="3712464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3712464"/>
            <a:ext cx="493776" cy="1207008"/>
          </a:xfrm>
          <a:prstGeom prst="rect">
            <a:avLst/>
          </a:prstGeom>
          <a:solidFill>
            <a:srgbClr val="E8456A">
              <a:alpha val="90000"/>
            </a:srgbClr>
          </a:solidFill>
          <a:ln w="12700">
            <a:solidFill>
              <a:srgbClr val="E8456A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407822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4672" y="378561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🔀  Mixing up gap with hypothesis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04672" y="4151376"/>
            <a:ext cx="3529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Fix: A gap is what's MISSING. A hypothesis is your GUESS about the answer. They are different stages. State the gap FIRST, then the hypothesis AFTER.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81728" y="3712464"/>
            <a:ext cx="4251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DD2E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3712464"/>
            <a:ext cx="493776" cy="1207008"/>
          </a:xfrm>
          <a:prstGeom prst="rect">
            <a:avLst/>
          </a:prstGeom>
          <a:solidFill>
            <a:srgbClr val="E8456A">
              <a:alpha val="90000"/>
            </a:srgbClr>
          </a:solidFill>
          <a:ln w="12700">
            <a:solidFill>
              <a:srgbClr val="E8456A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407822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85232" y="3785616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E22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🪞  Finding a gap but not connecting it to your study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85232" y="4151376"/>
            <a:ext cx="3529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85A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Fix: Always write: 'This gap is the rationale for the present study, which specifically aims to...' The gap and your objective must be MIRROR IMAGES of each other.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5943600" cy="5943600"/>
          </a:xfrm>
          <a:prstGeom prst="ellipse">
            <a:avLst/>
          </a:prstGeom>
          <a:solidFill>
            <a:srgbClr val="6C4FD6">
              <a:alpha val="5000"/>
            </a:srgbClr>
          </a:solidFill>
          <a:ln w="12700">
            <a:solidFill>
              <a:srgbClr val="6C4FD6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1645920"/>
            <a:ext cx="5029200" cy="5029200"/>
          </a:xfrm>
          <a:prstGeom prst="ellipse">
            <a:avLst/>
          </a:prstGeom>
          <a:solidFill>
            <a:srgbClr val="F5A623">
              <a:alpha val="4000"/>
            </a:srgbClr>
          </a:solidFill>
          <a:ln w="12700">
            <a:solidFill>
              <a:srgbClr val="F5A623">
                <a:alpha val="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10 Golden Rules for Lacunae 🏆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402336" cy="402336"/>
          </a:xfrm>
          <a:prstGeom prst="ellipse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9536" y="10058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lacuna is a GAP in knowledge — what's missing, weak, or contradictory.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7472" y="1883664"/>
            <a:ext cx="402336" cy="402336"/>
          </a:xfrm>
          <a:prstGeom prst="ellipse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9536" y="18105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research study MUST fill a lacuna. No gap = no study needed.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7472" y="2688336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9536" y="261518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 gaps in: Limitations sections, Future Research, Discussion contradictions.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7472" y="3493008"/>
            <a:ext cx="402336" cy="402336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9536" y="341985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the Gap Matrix: Population, Setting, Time, Intervention — four ways to spot gaps.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7472" y="4297680"/>
            <a:ext cx="402336" cy="402336"/>
          </a:xfrm>
          <a:prstGeom prst="ellipse">
            <a:avLst/>
          </a:prstGeom>
          <a:solidFill>
            <a:srgbClr val="E8456A"/>
          </a:solidFill>
          <a:ln w="12700">
            <a:solidFill>
              <a:srgbClr val="E845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9536" y="42245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Name your gap type: Evidence, Population, Geographic, Methodological, Temporal, or Contradiction.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09744" y="1078992"/>
            <a:ext cx="402336" cy="402336"/>
          </a:xfrm>
          <a:prstGeom prst="ellipse">
            <a:avLst/>
          </a:prstGeom>
          <a:solidFill>
            <a:srgbClr val="38B2E8"/>
          </a:solidFill>
          <a:ln w="12700">
            <a:solidFill>
              <a:srgbClr val="38B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21808" y="10058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ALWAYS cite who admits the gap. Never claim a gap without a citation.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9744" y="1883664"/>
            <a:ext cx="402336" cy="402336"/>
          </a:xfrm>
          <a:prstGeom prst="ellipse">
            <a:avLst/>
          </a:prstGeom>
          <a:solidFill>
            <a:srgbClr val="8B70E8"/>
          </a:solidFill>
          <a:ln w="12700">
            <a:solidFill>
              <a:srgbClr val="8B7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21808" y="18105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 'More research needed' is lazy. Name who, where, what, and why.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09744" y="2688336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21808" y="261518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Strong gaps are important, feasible, and supported by burden data or multiple authors.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09744" y="3493008"/>
            <a:ext cx="402336" cy="402336"/>
          </a:xfrm>
          <a:prstGeom prst="ellipse">
            <a:avLst/>
          </a:prstGeom>
          <a:solidFill>
            <a:srgbClr val="1CA8A0"/>
          </a:solidFill>
          <a:ln w="12700">
            <a:solidFill>
              <a:srgbClr val="1CA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21808" y="341985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your introduction must be the MIRROR of your research objective.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09744" y="4297680"/>
            <a:ext cx="402336" cy="402336"/>
          </a:xfrm>
          <a:prstGeom prst="ellipse">
            <a:avLst/>
          </a:prstGeom>
          <a:solidFill>
            <a:srgbClr val="28B580"/>
          </a:solidFill>
          <a:ln w="12700">
            <a:solidFill>
              <a:srgbClr val="28B5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A0E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321808" y="422452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study will create NEW gaps. Name them in your discussion — that's scientific integrity.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6C4FD6"/>
          </a:solidFill>
          <a:ln w="12700">
            <a:solidFill>
              <a:srgbClr val="6C4F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"A lacuna is not an embarrassment of science — it is its beating heart. Every gap is an open invitation from the universe to come and look." 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REFERENCING MATTERS IN MEDICAL RESEARCH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 of Academic Integrity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1920240" cy="118872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10,000+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2167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Papers retracted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globally 2023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78024" y="1417320"/>
            <a:ext cx="1920240" cy="1188720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78024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78024" y="2167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Retractions due to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duplicate/misconduct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08576" y="1417320"/>
            <a:ext cx="1920240" cy="11887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08576" y="2167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PG theses fail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audit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39128" y="1417320"/>
            <a:ext cx="1920240" cy="1188720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39128" y="1508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39128" y="2167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Journals require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style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7472" y="28346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44368"/>
            <a:ext cx="475488" cy="475488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60704" y="2926080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Gives Credit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60704" y="3236976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intellectual contributions of original authors — the cornerstone of research ethics.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36592" y="28346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944368"/>
            <a:ext cx="475488" cy="47548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49824" y="2926080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Ensures Reproducibility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49824" y="3236976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Allows readers to locate and verify the original sources cited in your work.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47472" y="38862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95928"/>
            <a:ext cx="475488" cy="475488"/>
          </a:xfrm>
          <a:prstGeom prst="ellipse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60704" y="3977640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Scholarship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60704" y="4288536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Shows depth and breadth of literature reviewed — critical for thesis evaluation.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36592" y="38862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995928"/>
            <a:ext cx="475488" cy="475488"/>
          </a:xfrm>
          <a:prstGeom prst="ellipse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49824" y="3977640"/>
            <a:ext cx="3364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Avoids Plagiarism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49824" y="4288536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Proper citation protects against academic misconduct proceedings in MCI/NMC audits.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ANATOMY OF A REFERENCE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Every Reference Must Have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19202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74650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Sharma R, Gupta A,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Patel 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77440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417320"/>
            <a:ext cx="1920240" cy="274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68880" y="174650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(2022)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2022;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34840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1417320"/>
            <a:ext cx="1920240" cy="274320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26280" y="174650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Effect of metformin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 HbA1c in T2DM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92240" y="141732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417320"/>
            <a:ext cx="2286000" cy="274320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0" y="174650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Journal / Book /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Website name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26060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06040"/>
            <a:ext cx="1920240" cy="274320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VOLUME/ISSUE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1480" y="293522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Vol. 14, No. 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14(3):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377440" y="26060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77440" y="2606040"/>
            <a:ext cx="1920240" cy="27432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468880" y="293522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pp. 234–241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 234-41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34840" y="26060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2606040"/>
            <a:ext cx="192024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2606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DOI/URL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26280" y="2935224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10.1234/xxxx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92240" y="260604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92240" y="2606040"/>
            <a:ext cx="2286000" cy="27432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ACCESS DATE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83680" y="293522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[cited 2024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Jan 15]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20040" y="3749040"/>
            <a:ext cx="8503920" cy="10058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749040"/>
            <a:ext cx="109728" cy="100584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776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Assembled Example (Vancouver):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0352" y="4050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Sharma R, Gupta A, Patel N. Effect of metformin on HbA1c in type 2 diabetes mellitus: a randomised controlled trial. Indian J Med Res. 2022;14(3):234-41. doi:10.1234/ijmr.2022.14.3.234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OVERVIEW OF MAJOR REFERENCING STYLES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Which Style for Which Discipline?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422452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64008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1732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4904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A3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Vancouver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18013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Used in: Biomedical &amp; Clinical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2039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NEJM, Lancet, BMJ, Indian journals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22452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17320"/>
            <a:ext cx="640080" cy="10515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1732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04688" y="14904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APA 7th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04688" y="18013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Used in: Psychology, Social Sciences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04688" y="2039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Psychiatry, Nursing, MPH dissertations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7472" y="2606040"/>
            <a:ext cx="422452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606040"/>
            <a:ext cx="640080" cy="1051560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60604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97280" y="2679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Harvard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97280" y="29900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Used in: General Academic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97280" y="32278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Health, Community Medicine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2606040"/>
            <a:ext cx="422452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606040"/>
            <a:ext cx="640080" cy="1051560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60604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04688" y="2679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9480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AMA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04688" y="29900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Used in: American Medical Assoc.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504688" y="32278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JAMA, AMA journals, US boards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7472" y="3794760"/>
            <a:ext cx="422452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794760"/>
            <a:ext cx="640080" cy="1051560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7947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97280" y="3867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NLM / ICMJE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97280" y="41788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Used in: National Library of Medicine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97280" y="44165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PubMed, Medline indexed journals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54880" y="3794760"/>
            <a:ext cx="422452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794760"/>
            <a:ext cx="640080" cy="105156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79476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504688" y="38679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MLA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504688" y="41788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Used in: Humanities / Literature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04688" y="44165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Medical humanities essays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Vancouver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Gold Standard for Biomedical Journals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0" y="457200"/>
            <a:ext cx="1280160" cy="1280160"/>
          </a:xfrm>
          <a:prstGeom prst="ellipse">
            <a:avLst/>
          </a:prstGeom>
          <a:solidFill>
            <a:srgbClr val="15AABF">
              <a:alpha val="40000"/>
            </a:srgbClr>
          </a:solidFill>
          <a:ln w="12700">
            <a:solidFill>
              <a:srgbClr val="15AAB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645920"/>
            <a:ext cx="914400" cy="914400"/>
          </a:xfrm>
          <a:prstGeom prst="ellipse">
            <a:avLst/>
          </a:prstGeom>
          <a:solidFill>
            <a:srgbClr val="0B7285">
              <a:alpha val="50000"/>
            </a:srgbClr>
          </a:solidFill>
          <a:ln w="12700">
            <a:solidFill>
              <a:srgbClr val="0B7285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560320"/>
            <a:ext cx="640080" cy="640080"/>
          </a:xfrm>
          <a:prstGeom prst="ellipse">
            <a:avLst/>
          </a:prstGeom>
          <a:solidFill>
            <a:srgbClr val="2255A4">
              <a:alpha val="45000"/>
            </a:srgbClr>
          </a:solidFill>
          <a:ln w="12700">
            <a:solidFill>
              <a:srgbClr val="2255A4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3474720"/>
            <a:ext cx="1097280" cy="109728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1A3A6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VANCOUVER STYLE — BASICS &amp; RULES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Numeric Citation System — ICMJE Standard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512064" cy="51206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41832" y="14447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In-text citation: Superscript numbers or (numbers) in order of appearance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1832" y="175564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e.g., "Insulin resistance is a key factor¹ in metabolic syndrome²"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23113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50008"/>
            <a:ext cx="512064" cy="51206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50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41832" y="22860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names: Surname first, then initials, no full stops. List up to 6 authors; add 'et al.' after 6th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41832" y="259689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e.g., Sharma R, Gupta A, Patel N, et al.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307238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91256"/>
            <a:ext cx="512064" cy="51206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91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41832" y="31272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Journal name abbreviated as per NLM Catalogue (Index Medicus)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832" y="343814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e.g., N Engl J Med  |  Indian J Med Res  |  Lancet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032504"/>
            <a:ext cx="512064" cy="512064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32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1832" y="39684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Format: Authors. Title. Abbrev Journal. Year;Volume(Issue):Pages.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VANCOUVER STYLE — REFERENCE EXAMPLES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Formatted Examples by Source Type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41732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Journal Article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47088" y="142646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Rajpurkar P, Irvin J, Ball RL, Zhu K, Yang B, Mehta H, et al. Deep learning for chest radiograph diagnosis. PLoS Med. 2018;15(11):e1002686. doi:10.1371/journal.pmed.1002686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84248"/>
            <a:ext cx="1417320" cy="54864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842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Book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47088" y="203911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Tortora GJ, Derrickson B. Principles of Anatomy and Physiology. 15th ed. Hoboken (NJ): Wiley; 2017. 1248 p.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96896"/>
            <a:ext cx="1417320" cy="548640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59689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Book Chapter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47088" y="265176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Sharma SK. Respiratory system. In: Harrison TR, editor. Harrison's Principles of Internal Medicine. 20th ed. New York: McGraw-Hill; 2018. p. 1890-1945.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209544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09544"/>
            <a:ext cx="1417320" cy="548640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Website / Online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47088" y="326440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Diabetes [Internet]. Geneva: WHO; 2023 [cited 2024 Jan 10]. Available from: https://www.who.int/news-room/fact-sheets/detail/diabetes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822192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22192"/>
            <a:ext cx="1417320" cy="548640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2219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Conference Paper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847088" y="3877056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Gulshan V, Peng L, Coram M, et al. Development of a deep learning algorithm for detection of diabetic retinopathy. Presented at: JAMA; 2016 Nov 29; Chicago, IL.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434840"/>
            <a:ext cx="1417320" cy="54864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434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Thesis / Dissertation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847088" y="448970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Mehta A. Role of deep learning in early detection of tuberculosis on chest X-ray [MD thesis]. New Delhi: AIIMS; 2022. 145 p.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" y="5029200"/>
            <a:ext cx="8503920" cy="1828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VANCOUVER — DEEP LEARNING PAPER EXAMPLES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Citing AI &amp; Deep Learning Publications Correctly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85039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CNN Model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WRONG: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Esteva et al showed skin cancer detection using AI (2017)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CORRECT: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Esteva A, Kuprel B, Novoa RA, Ko J, Swetter SM, Blau HM, et al. Dermatologist-level classification of skin cancer with deep neural networks. Nature. 2017;542(7639):115-8. doi:10.1038/nature21056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60320"/>
            <a:ext cx="8503920" cy="274320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Preprint / arXiv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WRONG: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Vaswani mentioned transformers in arXiv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12724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CORRECT: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Vaswani A, Shazeer N, Parmar N, Uszkoreit J, Jones L, Gomez AN, et al. Attention is all you need [Preprint]. arXiv. 2017 Jun 12 [cited 2024 Jan 5]:arXiv:1706.03762. Available from: https://arxiv.org/abs/1706.03762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749040"/>
            <a:ext cx="8503920" cy="274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Dataset Paper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WRONG: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MIMIC dataset was used (Johnson 2016)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CORRECT: </a:t>
            </a: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Johnson AE, Pollard TJ, Shen L, Lehman LH, Feng M, Ghassemi M, et al. MIMIC-III, a freely accessible critical care database. Sci Data. 2016;3:160035. doi:10.1038/sdata.2016.35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APA 7th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Edition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Author–Date System | Psychology &amp; Social Sciences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0" y="457200"/>
            <a:ext cx="1280160" cy="1280160"/>
          </a:xfrm>
          <a:prstGeom prst="ellipse">
            <a:avLst/>
          </a:prstGeom>
          <a:solidFill>
            <a:srgbClr val="15AABF">
              <a:alpha val="40000"/>
            </a:srgbClr>
          </a:solidFill>
          <a:ln w="12700">
            <a:solidFill>
              <a:srgbClr val="15AAB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645920"/>
            <a:ext cx="914400" cy="914400"/>
          </a:xfrm>
          <a:prstGeom prst="ellipse">
            <a:avLst/>
          </a:prstGeom>
          <a:solidFill>
            <a:srgbClr val="0B7285">
              <a:alpha val="50000"/>
            </a:srgbClr>
          </a:solidFill>
          <a:ln w="12700">
            <a:solidFill>
              <a:srgbClr val="0B7285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560320"/>
            <a:ext cx="640080" cy="640080"/>
          </a:xfrm>
          <a:prstGeom prst="ellipse">
            <a:avLst/>
          </a:prstGeom>
          <a:solidFill>
            <a:srgbClr val="2255A4">
              <a:alpha val="45000"/>
            </a:srgbClr>
          </a:solidFill>
          <a:ln w="12700">
            <a:solidFill>
              <a:srgbClr val="2255A4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3474720"/>
            <a:ext cx="1097280" cy="109728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1A3A6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APA 7th EDITION — BASICS &amp; RULES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Author–Date In-Text Citation System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605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4160520" cy="34747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533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RULES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1783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In-text: (Surname, Year) or (Surname &amp; Surname, Year)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22128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Up to 2 authors: cite all; 3+: use 'et al.' from first citation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" y="26426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 list in ALPHABETICAL order by first author surname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" y="30723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Title: Only first word and proper nouns capitalised (sentence case)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" y="35021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Journal title: Full name, italicised; Volume number italicised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" y="39319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DOI formatted as: https://doi.org/xxxxx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5488" y="4361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7th Ed: No place of publication needed for books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1353312"/>
            <a:ext cx="41605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53312"/>
            <a:ext cx="4160520" cy="347472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3533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FORMATTED EXAMPLES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73168" y="17830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Journal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73168" y="20391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Esteva, A., Kuprel, B., &amp; Thrun, S. (2017). Deep learning for skin cancer classification. Nature, 542(7639), 115–118. https://doi.org/10.1038/nature21056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73168" y="258775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Book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73168" y="28437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I., Bengio, Y., &amp; Courville, A. (2016). Deep learning. MIT Press.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73168" y="33924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Website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73168" y="364845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(2023). Diabetes. https://www.who.int/news-room/fact-sheets/detail/diabetes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73168" y="41970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In-text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73168" y="44531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(Esteva et al., 2017) — first citation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(Sharma &amp; Gupta, 2022) — two authors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(WHO, 2023) — organisation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APA 7th — DEEP LEARNING REFERENCE EXAMPLES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Citing AI Research in APA Format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554480" cy="65836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Neural Network Study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75104" y="1417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LeCun, Y., Bengio, Y., &amp; Hinton, G. (2015). Deep learning. Nature, 521(7553), 436–444. https://doi.org/10.1038/nature14539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75104" y="182880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In-text: (LeCun et al., 2015)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09397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93976"/>
            <a:ext cx="1554480" cy="658368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9397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Conference Proceedings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75104" y="2139696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He, K., Zhang, X., Ren, S., &amp; Sun, J. (2016). Deep residual learning for image recognition. Proceedings of the IEEE Conference on Computer Vision and Pattern Recognition (CVPR), 770–778. https://doi.org/10.1109/CVPR.2016.90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75104" y="2551176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In-text: (He et al., 2016)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81635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16352"/>
            <a:ext cx="1554480" cy="658368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1635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Software / Algorithm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75104" y="286207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Chollet, F., &amp; others. (2015). Keras [Computer software]. GitHub. https://github.com/fchollet/keras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75104" y="3273552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In-text: (Chollet et al., 2015)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53872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538728"/>
            <a:ext cx="1554480" cy="658368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3872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Government / Institutional Report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975104" y="3584448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Authority. (2023). AI in healthcare: policy framework (Report No. NHA-AI-2023). Government of India. https://nha.gov.in/ai-report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975104" y="3995928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In-text: (National Health Authority, 2023)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426110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261104"/>
            <a:ext cx="1554480" cy="658368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611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Preprint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975104" y="430682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Dosovitskiy, A., Beyer, L., Kolesnikov, A., Weissenborn, D., Zhai, X., Unterthiner, T., &amp; Houlsby, N. (2020). An image is worth 16x16 words. arXiv. https://arxiv.org/abs/2010.11929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975104" y="4718304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In-text: (Dosovitskiy et al., 2020)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Harvard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Author–Date | Public Health &amp; General Academic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0" y="457200"/>
            <a:ext cx="1280160" cy="1280160"/>
          </a:xfrm>
          <a:prstGeom prst="ellipse">
            <a:avLst/>
          </a:prstGeom>
          <a:solidFill>
            <a:srgbClr val="15AABF">
              <a:alpha val="40000"/>
            </a:srgbClr>
          </a:solidFill>
          <a:ln w="12700">
            <a:solidFill>
              <a:srgbClr val="15AAB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645920"/>
            <a:ext cx="914400" cy="914400"/>
          </a:xfrm>
          <a:prstGeom prst="ellipse">
            <a:avLst/>
          </a:prstGeom>
          <a:solidFill>
            <a:srgbClr val="0B7285">
              <a:alpha val="50000"/>
            </a:srgbClr>
          </a:solidFill>
          <a:ln w="12700">
            <a:solidFill>
              <a:srgbClr val="0B7285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560320"/>
            <a:ext cx="640080" cy="640080"/>
          </a:xfrm>
          <a:prstGeom prst="ellipse">
            <a:avLst/>
          </a:prstGeom>
          <a:solidFill>
            <a:srgbClr val="2255A4">
              <a:alpha val="45000"/>
            </a:srgbClr>
          </a:solidFill>
          <a:ln w="12700">
            <a:solidFill>
              <a:srgbClr val="2255A4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3474720"/>
            <a:ext cx="1097280" cy="109728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1A3A6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HARVARD STYLE — DEEP LEARNING EXAMPLES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AI/DL References in Harvard Format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417320" cy="640080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Journal Article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0" y="1435608"/>
            <a:ext cx="6858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Topol, E.J. (2019) 'High-performance medicine: the convergence of human and artificial intelligence', Nature Medicine, 25(1), pp. 44–56. doi: 10.1038/s41591-018-0300-7.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84832"/>
            <a:ext cx="1417320" cy="6400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848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Edited Book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28800" y="2148840"/>
            <a:ext cx="6858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Szolovits, P. (ed.) (2019) Artificial Intelligence in Medicine. New York: Routledge.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798064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98064"/>
            <a:ext cx="1417320" cy="640080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9806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Book Chapter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2862072"/>
            <a:ext cx="6858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Litjens, G. and Ciompi, F. (2018) 'Deep learning in histopathology', in Greenspan, H. (ed.) Deep Learning for Medical Image Analysis. London: Academic Press, pp. 215–246.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11296"/>
            <a:ext cx="1417320" cy="640080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51129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Online Report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28800" y="3575304"/>
            <a:ext cx="6858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WHO (2021) Ethics and Governance of Artificial Intelligence for Health. Geneva: World Health Organization. Available at: https://www.who.int/publications/i/item/9789240029200 (Accessed: 10 January 2024).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224528"/>
            <a:ext cx="141732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245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Conference Paper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828800" y="4288536"/>
            <a:ext cx="6858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Ronneberger, O., Fischer, P. and Brox, T. (2015) 'U-Net: convolutional networks for biomedical image segmentation', in Navab, N. (ed.) MICCAI 2015. Munich: Springer, pp. 234–241.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0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A1240"/>
          </a:solidFill>
          <a:ln w="12700">
            <a:solidFill>
              <a:srgbClr val="1A1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AMA &amp; NLM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Styles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American Medical Association | National Library of Medicine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0" y="457200"/>
            <a:ext cx="1280160" cy="1280160"/>
          </a:xfrm>
          <a:prstGeom prst="ellipse">
            <a:avLst/>
          </a:prstGeom>
          <a:solidFill>
            <a:srgbClr val="15AABF">
              <a:alpha val="40000"/>
            </a:srgbClr>
          </a:solidFill>
          <a:ln w="12700">
            <a:solidFill>
              <a:srgbClr val="15AAB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645920"/>
            <a:ext cx="914400" cy="914400"/>
          </a:xfrm>
          <a:prstGeom prst="ellipse">
            <a:avLst/>
          </a:prstGeom>
          <a:solidFill>
            <a:srgbClr val="0B7285">
              <a:alpha val="50000"/>
            </a:srgbClr>
          </a:solidFill>
          <a:ln w="12700">
            <a:solidFill>
              <a:srgbClr val="0B7285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560320"/>
            <a:ext cx="640080" cy="640080"/>
          </a:xfrm>
          <a:prstGeom prst="ellipse">
            <a:avLst/>
          </a:prstGeom>
          <a:solidFill>
            <a:srgbClr val="2255A4">
              <a:alpha val="45000"/>
            </a:srgbClr>
          </a:solidFill>
          <a:ln w="12700">
            <a:solidFill>
              <a:srgbClr val="2255A4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3474720"/>
            <a:ext cx="1097280" cy="109728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1A3A6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AMA &amp; NLM STYLES — RULES &amp; EXAMPLES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For JAMA, AMA Journals &amp; PubMed-Indexed Sources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605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4160520" cy="347472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533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AMA STYLE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17830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Superscript numbers in text (same as Vancouver)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21488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 list in order of citation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" y="25146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All authors listed (no et al. limit in reference list)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" y="28803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Abbreviated journal names (NLM format)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" y="32461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Year;Volume(Issue):Pages — no spaces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" y="3648456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Gulshan V, Peng L, Coram M, et al. Development and validation of a deep learning algorithm for detection of diabetic retinopathy in retinal fundus photographs. JAMA. 2016;316(22):2402-2410. doi:10.1001/jama.2016.17216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353312"/>
            <a:ext cx="416052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53312"/>
            <a:ext cx="41605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533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NLM / ICMJE STYLE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28032" y="17830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Used by PubMed, Medline, ICMJE journals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28032" y="214884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Virtually identical to Vancouver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28032" y="25146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Adds PMID (PubMed ID) at end: PMID: 12345678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28032" y="28803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PubMed Central ID if available: PMCID: PMC12345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28032" y="3310128"/>
            <a:ext cx="384048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Rajpurkar P, Irvin J, Zhu K, et al. CheXNet: radiologist-level pneumonia detection on chest X-rays with deep learning. arXiv. 2017;arXiv:1711.05225. PMID: 29182711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COMPARING REFERENCING STYLES — AT A GLANCE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 of Major Styles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20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371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40280" y="1371600"/>
            <a:ext cx="173736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5144" y="13716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Vancouver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77640" y="1371600"/>
            <a:ext cx="1737360" cy="384048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32504" y="13716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APA 7th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15000" y="1371600"/>
            <a:ext cx="1737360" cy="384048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9864" y="13716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Harvard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52360" y="1371600"/>
            <a:ext cx="1737360" cy="384048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07224" y="13716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AMA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1755648"/>
            <a:ext cx="19202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" y="17556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In-text format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240280" y="175564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95144" y="175564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Superscript¹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977640" y="175564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32504" y="175564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(Author, Year)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715000" y="175564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9864" y="175564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(Author, Year)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52360" y="1755648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75564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Superscript¹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2157984"/>
            <a:ext cx="19202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" y="21579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Citation order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240280" y="2157984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95144" y="215798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Appearance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977640" y="2157984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32504" y="215798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Alphabetical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15000" y="2157984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9864" y="215798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Alphabetical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52360" y="2157984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07224" y="215798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Appearance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2560320"/>
            <a:ext cx="19202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" y="25603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 limit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240280" y="2560320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95144" y="25603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6, then et al.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977640" y="2560320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32504" y="25603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2, then et al. from 3+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715000" y="2560320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9864" y="25603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3, then et al.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452360" y="2560320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07224" y="25603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authors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20040" y="2962656"/>
            <a:ext cx="19202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" y="296265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Journal name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240280" y="2962656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95144" y="29626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Abbreviated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977640" y="2962656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32504" y="29626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Full, italic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715000" y="2962656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9864" y="29626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or abbrev.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452360" y="2962656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07224" y="29626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Abbreviated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20040" y="3364992"/>
            <a:ext cx="19202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" y="33649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Title case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240280" y="336499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95144" y="336499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977640" y="336499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32504" y="336499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715000" y="336499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9864" y="336499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Title Case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452360" y="336499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07224" y="336499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Title Case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320040" y="3767328"/>
            <a:ext cx="19202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4904" y="37673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240280" y="376732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95144" y="37673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BMJ, Lancet, IJMR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977640" y="376732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32504" y="37673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Psychiatry, MPH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715000" y="376732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69864" y="37673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 Health essays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452360" y="3767328"/>
            <a:ext cx="173736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07224" y="37673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JAMA, AMA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320040" y="4169664"/>
            <a:ext cx="192024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74904" y="416966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support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2240280" y="4169664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95144" y="41696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Zotero, Mendeley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3977640" y="4169664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32504" y="41696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Zotero, Mendeley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5715000" y="4169664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69864" y="41696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Zotero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7452360" y="4169664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07224" y="41696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Zotero, EndNote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A2E4B"/>
          </a:solidFill>
          <a:ln w="12700">
            <a:solidFill>
              <a:srgbClr val="1A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In-Text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Citations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to Cite Within Your Manuscript or Thesis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0" y="457200"/>
            <a:ext cx="1280160" cy="1280160"/>
          </a:xfrm>
          <a:prstGeom prst="ellipse">
            <a:avLst/>
          </a:prstGeom>
          <a:solidFill>
            <a:srgbClr val="15AABF">
              <a:alpha val="40000"/>
            </a:srgbClr>
          </a:solidFill>
          <a:ln w="12700">
            <a:solidFill>
              <a:srgbClr val="15AAB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645920"/>
            <a:ext cx="914400" cy="914400"/>
          </a:xfrm>
          <a:prstGeom prst="ellipse">
            <a:avLst/>
          </a:prstGeom>
          <a:solidFill>
            <a:srgbClr val="0B7285">
              <a:alpha val="50000"/>
            </a:srgbClr>
          </a:solidFill>
          <a:ln w="12700">
            <a:solidFill>
              <a:srgbClr val="0B7285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560320"/>
            <a:ext cx="640080" cy="640080"/>
          </a:xfrm>
          <a:prstGeom prst="ellipse">
            <a:avLst/>
          </a:prstGeom>
          <a:solidFill>
            <a:srgbClr val="2255A4">
              <a:alpha val="45000"/>
            </a:srgbClr>
          </a:solidFill>
          <a:ln w="12700">
            <a:solidFill>
              <a:srgbClr val="2255A4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3474720"/>
            <a:ext cx="1097280" cy="109728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1A3A6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IN-TEXT CITATIONS — RULES WITH DL EXAMPLES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Placing Citations Correctly in Manuscript Text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850392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Single Author — Vancouver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"is transforming medicine" (Topol 2019)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is transforming medicine.¹ OR: Topol¹ argued that artificial intelligence is transforming medicine.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58568"/>
            <a:ext cx="8503920" cy="2743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Multiple Authors — APA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LeCun, Bengio, and Hinton (2015) described deep learning in their study...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LeCun et al. (2015) described deep learning... [3+ authors use et al. from first citation in APA 7th]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3145536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45536"/>
            <a:ext cx="8503920" cy="274320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4553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 Quote — Harvard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447288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Topol said 'AI will replace radiologists'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36850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"AI will replace radiologists" (Topol, 2019, p. 44) — must include page number for direct quotes in Harvard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4032504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032504"/>
            <a:ext cx="8503920" cy="274320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3250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Secondary Citation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334256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Hinton (cited in Goodfellow, 2016) stated...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primary source whenever possible. If unavoidable: (Hinton, 1986, as cited in Goodfellow et al., 2016) — cite both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DOI, PMID &amp; URLS IN REFERENCES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Digital Identifiers — The Modern Standard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365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(Digital Object Identifier)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837944"/>
            <a:ext cx="25146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Unique persistent identifier assigned to articles.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Vancouver: doi:10.1001/jama.2016.17216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APA: https://doi.org/10.1001/jama.2016.17216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CrossRef.org if DOI unknown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417320"/>
            <a:ext cx="2697480" cy="36576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PMID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(PubMed ID)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46120" y="1837944"/>
            <a:ext cx="25146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NLM/ICMJE format appends PMID at end.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 PMID: 27898976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Locate at: https://pubmed.ncbi.nlm.nih.gov/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biomedical references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417320"/>
            <a:ext cx="2697480" cy="365760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417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PMCID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(PubMed Central ID)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80760" y="1837944"/>
            <a:ext cx="25146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free full-text articles in PMC.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 PMCID: PMC5457749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NIH grant-funded publications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Used alongside PMID in NLM style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081528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81528"/>
            <a:ext cx="2697480" cy="365760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0815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URLs &amp; Websites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3502152"/>
            <a:ext cx="25146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 access date for all web sources.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Vancouver: [cited 2024 Jan 10]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APA: (Retrieved January 10, 2024, from...)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Harvard: (Accessed: 10 January 2024)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54680" y="3081528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3081528"/>
            <a:ext cx="2697480" cy="365760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30815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arXiv / Preprints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46120" y="3502152"/>
            <a:ext cx="25146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Always label as [Preprint]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Format: arXiv:YYMM.NNNNN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 arXiv:2010.11929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Note limitations — not peer reviewed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89320" y="3081528"/>
            <a:ext cx="2697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081528"/>
            <a:ext cx="2697480" cy="36576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0815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ORCID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80760" y="3502152"/>
            <a:ext cx="251460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Unique author identifier (not in reference)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Helps disambiguation of author names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 to manuscript metadata &amp; cover letter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https://orcid.org/0000-0000-0000-0000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 MANAGEMENT SOFTWARE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Tools Every PG Student Must Use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188720" cy="8046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Zotero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00200" y="1426464"/>
            <a:ext cx="1371600" cy="219456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4264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&amp; OPEN SOURCE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90672" y="14173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Browser plugin, Word/LibreOffice integration, group libraries, PDF annotation, automatic DOI import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90672" y="1709928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Cloud storage limited (300MB free)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00200" y="1938528"/>
            <a:ext cx="7059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ALL PG students — FREE, powerful, actively developed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25856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58568"/>
            <a:ext cx="1188720" cy="8046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58568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Mendeley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00200" y="2313432"/>
            <a:ext cx="1371600" cy="21945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2313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(Elsevier)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90672" y="230428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14GB cloud storage, PDF manager, social network features, robust Android/iOS apps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90672" y="2596896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Elsevier integration may restrict data; some features require paid Elsevier access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00200" y="2825496"/>
            <a:ext cx="7059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Students wanting PDF cloud storage and mobile access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145536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45536"/>
            <a:ext cx="1188720" cy="8046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45536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EndNote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600200" y="3200400"/>
            <a:ext cx="1371600" cy="219456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32004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PAID (Clarivate)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90672" y="319125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Industry gold standard, journal submission integration, 7000+ citation styles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90672" y="3483864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Expensive (~$300); steep learning curve; overkill for most PG students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00200" y="3712464"/>
            <a:ext cx="7059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Senior researchers, faculty, those submitting to high-impact journals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040" y="4032504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032504"/>
            <a:ext cx="1188720" cy="8046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032504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RefWorks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600200" y="4087368"/>
            <a:ext cx="1371600" cy="219456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40873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INSTITUTIONAL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090672" y="407822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Cloud-based, Google Docs integration, easy to learn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090672" y="4370832"/>
            <a:ext cx="5577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Requires institutional subscription; less feature-rich than Zotero/Mendeley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600200" y="4599432"/>
            <a:ext cx="7059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Institutions with site license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AI-POWERED REFERENCE &amp; CITATION TOOLS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How Deep Learning Transforms Literature Management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224528" cy="7315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3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46120" y="1481328"/>
            <a:ext cx="1188720" cy="21945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4813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Tool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9768" y="175564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AI2 &amp; NLP Models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9768" y="195681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TLDR summaries, citation impact scoring, auto-extracts methods/results sections from PDFs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9768" y="2267712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1A3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Finding key DL papers, tracking citation networks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27448" y="1371600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371600"/>
            <a:ext cx="4224528" cy="7315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Elicit.org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53528" y="1481328"/>
            <a:ext cx="1188720" cy="219456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3528" y="14813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Tool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37176" y="175564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LLM-based Research Assistant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37176" y="195681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Answers research questions by scanning papers, extracts relevant columns (sample size, methods, outcomes, limitations)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37176" y="2267712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B72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Systematic review screening, gap analysis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2578608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78608"/>
            <a:ext cx="4224528" cy="73152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6883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Scite.ai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46120" y="2688336"/>
            <a:ext cx="1188720" cy="219456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6883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Tool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29768" y="296265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Smart Citation Analysis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29768" y="3163824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 classifies each citation as 'supporting', 'contrasting' or 'mentioning' — shows evidence weight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29768" y="3474720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Identifying contested evidence, citation quality assessment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27448" y="2578608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27448" y="2578608"/>
            <a:ext cx="4224528" cy="73152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37176" y="26883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9480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Papers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653528" y="2688336"/>
            <a:ext cx="1188720" cy="219456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53528" y="26883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Tool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37176" y="296265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 Mapping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37176" y="3163824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Builds visual similarity graph of papers using embedding-based NLP — not just citation links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37176" y="3474720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D9480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Discovering related DL papers outside your usual search terms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20040" y="3785616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785616"/>
            <a:ext cx="4224528" cy="73152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3895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ResearchRabbit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246120" y="3895344"/>
            <a:ext cx="1188720" cy="219456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8953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Tool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29768" y="416966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29768" y="4370832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suggests new relevant papers based on your library; tracks new publications automatically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29768" y="4681728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Staying current with fast-moving DL/AI medical literature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727448" y="3785616"/>
            <a:ext cx="422452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27448" y="3785616"/>
            <a:ext cx="4224528" cy="73152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3895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653528" y="3895344"/>
            <a:ext cx="1188720" cy="219456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53528" y="38953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Tool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37176" y="416966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37176" y="4370832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Can draft reference lists, suggest citation styles, identify missing fields — ALWAYS verify output independently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837176" y="4681728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Use: First-pass formatting; NOT reliable for exact bibliographic data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3A1515"/>
          </a:solidFill>
          <a:ln w="12700">
            <a:solidFill>
              <a:srgbClr val="3A15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Common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Errors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Mistakes That Cost Marks &amp; Credibility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0" y="457200"/>
            <a:ext cx="1280160" cy="1280160"/>
          </a:xfrm>
          <a:prstGeom prst="ellipse">
            <a:avLst/>
          </a:prstGeom>
          <a:solidFill>
            <a:srgbClr val="15AABF">
              <a:alpha val="40000"/>
            </a:srgbClr>
          </a:solidFill>
          <a:ln w="12700">
            <a:solidFill>
              <a:srgbClr val="15AAB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645920"/>
            <a:ext cx="914400" cy="914400"/>
          </a:xfrm>
          <a:prstGeom prst="ellipse">
            <a:avLst/>
          </a:prstGeom>
          <a:solidFill>
            <a:srgbClr val="0B7285">
              <a:alpha val="50000"/>
            </a:srgbClr>
          </a:solidFill>
          <a:ln w="12700">
            <a:solidFill>
              <a:srgbClr val="0B7285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560320"/>
            <a:ext cx="640080" cy="640080"/>
          </a:xfrm>
          <a:prstGeom prst="ellipse">
            <a:avLst/>
          </a:prstGeom>
          <a:solidFill>
            <a:srgbClr val="2255A4">
              <a:alpha val="45000"/>
            </a:srgbClr>
          </a:solidFill>
          <a:ln w="12700">
            <a:solidFill>
              <a:srgbClr val="2255A4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3474720"/>
            <a:ext cx="1097280" cy="109728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1A3A6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COMMON REFERENCING ERRORS &amp; HOW TO FIX THEM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Top 8 Mistakes Made by PG Students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2245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30168" y="1426464"/>
            <a:ext cx="804672" cy="219456"/>
          </a:xfrm>
          <a:prstGeom prst="rect">
            <a:avLst/>
          </a:prstGeom>
          <a:solidFill>
            <a:srgbClr val="D6534A"/>
          </a:solidFill>
          <a:ln w="12700">
            <a:solidFill>
              <a:srgbClr val="D65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30168" y="142646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9768" y="14264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Wrong style for journal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9768" y="1719072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journal's 'Instructions to Authors' page before submission. Most Indian journals use Vancouver.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27448" y="1371600"/>
            <a:ext cx="42245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37576" y="1426464"/>
            <a:ext cx="804672" cy="219456"/>
          </a:xfrm>
          <a:prstGeom prst="rect">
            <a:avLst/>
          </a:prstGeom>
          <a:solidFill>
            <a:srgbClr val="D6534A"/>
          </a:solidFill>
          <a:ln w="12700">
            <a:solidFill>
              <a:srgbClr val="D65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37576" y="142646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37176" y="14264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et al. used incorrectly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37176" y="1719072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Vancouver: &gt;6 authors; APA 7th: 3+ authors from first cite; AMA: do NOT use et al. in reference list.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2245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2322576"/>
            <a:ext cx="804672" cy="219456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232257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9768" y="232257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Journal not abbreviated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9768" y="261518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NLM Catalogue at ncbi.nlm.nih.gov/nlmcatalog to find official abbreviations.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27448" y="2267712"/>
            <a:ext cx="42245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37576" y="2322576"/>
            <a:ext cx="804672" cy="219456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37576" y="232257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37176" y="232257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DOI missing or wrong format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37176" y="261518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CrossRef.org to verify DOIs. APA uses 'https://doi.org/'; Vancouver uses 'doi:'.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3163824"/>
            <a:ext cx="42245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30168" y="3218688"/>
            <a:ext cx="804672" cy="219456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321868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29768" y="321868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numbers incomplete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29768" y="3511296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full pages (234-241) or acceptable abbreviation (234-41) per style guide. Never 234.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27448" y="3163824"/>
            <a:ext cx="42245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37576" y="3218688"/>
            <a:ext cx="804672" cy="219456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37576" y="321868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37176" y="321868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Access date omitted for websites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37176" y="3511296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web sources need accessed/cited date. Use: [cited 2024 Jan 10] (Vancouver) or (Retrieved Jan 10, 2024).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0040" y="4059936"/>
            <a:ext cx="42245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30168" y="4114800"/>
            <a:ext cx="804672" cy="219456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0168" y="41148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29768" y="41148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Title capitalisation wrong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29768" y="440740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APA/NLM: sentence case. AMA/Vancouver: title case sometimes. Check style guide precisely.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27448" y="4059936"/>
            <a:ext cx="42245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37576" y="4114800"/>
            <a:ext cx="804672" cy="219456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37576" y="411480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CRITICAL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837176" y="41148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reference wrong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837176" y="440740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B8A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ALWAYS manually verify Zotero/Mendeley/AI-generated references against original source.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SPECIAL SCENARIOS IN DL/AI REFERENCING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Unique Challenges When Citing AI Research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19456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Citing a GitHub Repository / Code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06040" y="1426464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Vancouver: Chollet F. Keras [Source code]. GitHub; 2015 [cited 2024 Jan]. Available from: https://github.com/fchollet/keras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APA: Chollet, F. (2015). Keras [Computer software]. https://github.com/fchollet/keras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2093976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93976"/>
            <a:ext cx="2194560" cy="64008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9397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Citing a Model / Dataset Version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06040" y="2148840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 version number and DOI if available.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 OpenAI. (2023). GPT-4 technical report (Version 1.0) [Technical report]. https://arxiv.org/abs/2303.08774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Zenodo datasets have DOIs — always use them.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816352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16352"/>
            <a:ext cx="2194560" cy="640080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163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Citing a Retracted Paper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06040" y="2871216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you must cite a retracted paper (for historical context):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Shame H, et al. [Retracted] Deep learning for diagnosis. J Med AI. 2020;5:12. Retraction in: J Med AI. 2021;6:1.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PubMed retraction status before citing.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53872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38728"/>
            <a:ext cx="2194560" cy="640080"/>
          </a:xfrm>
          <a:prstGeom prst="rect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5387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Citing AI-Generated Content (LLMs)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606040" y="3593592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Most journals do NOT allow citing ChatGPT/Claude as a reference. Use LLMs as a tool, not a citable source.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unavoidable — APA: OpenAI. (2024). ChatGPT (Mar 2024 version) [Large language model]. https://chat.openai.com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4261104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261104"/>
            <a:ext cx="2194560" cy="640080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6110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Pre-published / 'Ahead of Print'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606040" y="4315968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Vancouver: Sharma R, et al. DL in cardiac imaging. Indian Heart J. Forthcoming 2024. doi:10.xxxx/ihj.2024.xxx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APA: Sharma, R., et al. (in press). DL in cardiac imaging. Indian Heart Journal.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2A1E6B"/>
          </a:solidFill>
          <a:ln w="12700">
            <a:solidFill>
              <a:srgbClr val="2A1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SECTION 08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Thesis &amp;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Dissertation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for MD / MS / DNB Theses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0" y="457200"/>
            <a:ext cx="1280160" cy="1280160"/>
          </a:xfrm>
          <a:prstGeom prst="ellipse">
            <a:avLst/>
          </a:prstGeom>
          <a:solidFill>
            <a:srgbClr val="15AABF">
              <a:alpha val="40000"/>
            </a:srgbClr>
          </a:solidFill>
          <a:ln w="12700">
            <a:solidFill>
              <a:srgbClr val="15AABF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645920"/>
            <a:ext cx="914400" cy="914400"/>
          </a:xfrm>
          <a:prstGeom prst="ellipse">
            <a:avLst/>
          </a:prstGeom>
          <a:solidFill>
            <a:srgbClr val="0B7285">
              <a:alpha val="50000"/>
            </a:srgbClr>
          </a:solidFill>
          <a:ln w="12700">
            <a:solidFill>
              <a:srgbClr val="0B7285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560320"/>
            <a:ext cx="640080" cy="640080"/>
          </a:xfrm>
          <a:prstGeom prst="ellipse">
            <a:avLst/>
          </a:prstGeom>
          <a:solidFill>
            <a:srgbClr val="2255A4">
              <a:alpha val="45000"/>
            </a:srgbClr>
          </a:solidFill>
          <a:ln w="12700">
            <a:solidFill>
              <a:srgbClr val="2255A4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3474720"/>
            <a:ext cx="1097280" cy="1097280"/>
          </a:xfrm>
          <a:prstGeom prst="ellipse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1A3A6B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REFERENCING IN MD/MS/DNB THESES — COMPLETE GUIDE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NMC / University Requirements for Thesis Referencing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4160520" cy="329184"/>
          </a:xfrm>
          <a:prstGeom prst="rect">
            <a:avLst/>
          </a:prstGeom>
          <a:solidFill>
            <a:srgbClr val="5C3C8F"/>
          </a:solidFill>
          <a:ln w="12700">
            <a:solidFill>
              <a:srgbClr val="5C3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533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THESIS REFERENCE CHECKLIST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17556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Style confirmed with guide / university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20025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in-text citations have reference entry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" y="22494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reference entries cited in text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Journal names correctly abbreviated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" y="2743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names formatted consistently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" y="29900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DOIs included for all journal articles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5488" y="32369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Website access dates recorded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5488" y="34838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citation numbers (Vancouver)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" y="3730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management software used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5488" y="3977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has reviewed reference list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5488" y="42245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check completed (Turnitin/iThenticate)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5488" y="44714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3C8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☐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43A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Final proofread against style guide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63440" y="1353312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53312"/>
            <a:ext cx="4160520" cy="329184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35331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 THESIS REFERENCING FAILURES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28032" y="17556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Using website-only sources for &gt;30% of references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28032" y="20025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Thesis may be referred back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28032" y="22128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Citing textbooks for facts available in primary literature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28032" y="24597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Examiner flags as shallow review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28032" y="26700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style (mixing Vancouver &amp; APA)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28032" y="29169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deduction of marks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28032" y="31272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Missing DOIs in journal references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28032" y="33741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plagiarism software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28032" y="35844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Auto-import from Zotero without verification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28032" y="38313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Wrong years, authors or titles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28032" y="40416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Citing papers not actually read (honorary citations)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28032" y="42885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Academic misconduct risk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28032" y="44988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C9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list not matching bibliography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28032" y="47457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 in Indian MD theses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82880"/>
            <a:ext cx="2560320" cy="2560320"/>
          </a:xfrm>
          <a:prstGeom prst="ellipse">
            <a:avLst/>
          </a:prstGeom>
          <a:solidFill>
            <a:srgbClr val="1A3A6B">
              <a:alpha val="55000"/>
            </a:srgbClr>
          </a:solidFill>
          <a:ln w="12700">
            <a:solidFill>
              <a:srgbClr val="1A3A6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371600"/>
            <a:ext cx="1463040" cy="1463040"/>
          </a:xfrm>
          <a:prstGeom prst="ellipse">
            <a:avLst/>
          </a:prstGeom>
          <a:solidFill>
            <a:srgbClr val="0B7285">
              <a:alpha val="45000"/>
            </a:srgbClr>
          </a:solidFill>
          <a:ln w="12700">
            <a:solidFill>
              <a:srgbClr val="0B7285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2560320"/>
            <a:ext cx="914400" cy="914400"/>
          </a:xfrm>
          <a:prstGeom prst="ellipse">
            <a:avLst/>
          </a:prstGeom>
          <a:solidFill>
            <a:srgbClr val="2255A4">
              <a:alpha val="50000"/>
            </a:srgbClr>
          </a:solidFill>
          <a:ln w="12700">
            <a:solidFill>
              <a:srgbClr val="2255A4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3200400"/>
            <a:ext cx="1097280" cy="1097280"/>
          </a:xfrm>
          <a:prstGeom prst="ellipse">
            <a:avLst/>
          </a:prstGeom>
          <a:solidFill>
            <a:srgbClr val="15AABF">
              <a:alpha val="35000"/>
            </a:srgbClr>
          </a:solidFill>
          <a:ln w="12700">
            <a:solidFill>
              <a:srgbClr val="15AAB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84048" y="987552"/>
            <a:ext cx="5577840" cy="576072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051560"/>
            <a:ext cx="457200" cy="45720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50976" y="1024128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Vancouver is king in biomedical journals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50976" y="1280160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Master it first — it is used by Lancet, NEJM, BMJ, Indian J Med Res and most NMC thesis requirements.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4048" y="1645920"/>
            <a:ext cx="5577840" cy="576072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709928"/>
            <a:ext cx="457200" cy="45720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0976" y="1682496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journal's style guide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50976" y="1938528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rule — check Instructions to Authors before every submission.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4048" y="2304288"/>
            <a:ext cx="5577840" cy="576072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368296"/>
            <a:ext cx="457200" cy="45720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0976" y="2340864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Use Zotero — it's FREE and powerful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0976" y="2596896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Import papers directly from PubMed and DOI. Export to any style in seconds. Eliminate manual errors.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84048" y="2962656"/>
            <a:ext cx="5577840" cy="576072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026664"/>
            <a:ext cx="457200" cy="45720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0976" y="2999232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tools aid but never replace verification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0976" y="3255264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ChatGPT/Zotero auto-import can hallucinate or mis-format. Always verify against the original source.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84048" y="3621024"/>
            <a:ext cx="5577840" cy="576072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685032"/>
            <a:ext cx="457200" cy="45720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50976" y="3657600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DL/AI papers have special referencing needs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50976" y="3913632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arXiv preprints, GitHub repos, model versions, and datasets each have specific citation formats.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84048" y="4279392"/>
            <a:ext cx="5577840" cy="576072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4343400"/>
            <a:ext cx="457200" cy="457200"/>
          </a:xfrm>
          <a:prstGeom prst="ellipse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50976" y="4315968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AAB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Correct referencing is ethical scholarship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50976" y="4572000"/>
            <a:ext cx="4901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incorrect citation is a disservice to the author — and risks plagiarism flags in your thesis.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80760" y="987552"/>
            <a:ext cx="2743200" cy="395020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105156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Card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080760" y="1627632"/>
            <a:ext cx="2743200" cy="438912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166420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Vancouver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132320" y="166420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Superscript, numbered, abbrev journal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080760" y="2103120"/>
            <a:ext cx="274320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213969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APA 7th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132320" y="2139696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(Author, Year), alpha order, DOI link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080760" y="2578608"/>
            <a:ext cx="2743200" cy="438912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261518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Harvard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132320" y="2615184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(Author, Year), title case, full journal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080760" y="3054096"/>
            <a:ext cx="274320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309067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132320" y="3090672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Superscript, all authors, JAMA format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080760" y="3529584"/>
            <a:ext cx="2743200" cy="438912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44768" y="35661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NLM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132320" y="3566160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Vancouver + PMID/PMCID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080760" y="4005072"/>
            <a:ext cx="274320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44768" y="404164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Zotero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132320" y="404164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Free, Word plugin, all styles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080760" y="4480560"/>
            <a:ext cx="2743200" cy="438912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44768" y="451713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Elicit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132320" y="4517136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gap &amp; reference finder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080760" y="4956048"/>
            <a:ext cx="274320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44768" y="499262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59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Scite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132320" y="4992624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Cite quality (support/contrast)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641080" y="489204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C75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13055</Words>
  <Application>Microsoft Office PowerPoint</Application>
  <PresentationFormat>On-screen Show (16:9)</PresentationFormat>
  <Paragraphs>1545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Literature in Medical Research — Beginner's Guide</dc:title>
  <dc:subject>PptxGenJS Presentation</dc:subject>
  <dc:creator>PptxGenJS</dc:creator>
  <cp:lastModifiedBy>pratish tyagi</cp:lastModifiedBy>
  <cp:revision>6</cp:revision>
  <dcterms:created xsi:type="dcterms:W3CDTF">2026-03-14T14:20:18Z</dcterms:created>
  <dcterms:modified xsi:type="dcterms:W3CDTF">2026-03-18T08:45:28Z</dcterms:modified>
</cp:coreProperties>
</file>